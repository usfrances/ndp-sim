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67" r:id="rId4"/>
    <p:sldId id="268" r:id="rId5"/>
    <p:sldId id="269" r:id="rId6"/>
    <p:sldId id="256" r:id="rId7"/>
    <p:sldId id="257" r:id="rId8"/>
    <p:sldId id="258" r:id="rId9"/>
    <p:sldId id="260" r:id="rId10"/>
    <p:sldId id="262" r:id="rId11"/>
    <p:sldId id="266" r:id="rId12"/>
    <p:sldId id="263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2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5"/>
        <p:guide pos="28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723"/>
            <a:ext cx="1051560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</a:t>
            </a:r>
            <a:r>
              <a:rPr lang="en-US" sz="2800" b="1">
                <a:solidFill>
                  <a:srgbClr val="212731"/>
                </a:solidFill>
                <a:latin typeface="Aptos"/>
              </a:rPr>
              <a:t>_M64N128K16_4slices</a:t>
            </a:r>
            <a:r>
              <a:rPr sz="2800" b="1">
                <a:solidFill>
                  <a:srgbClr val="212731"/>
                </a:solidFill>
                <a:latin typeface="Aptos"/>
              </a:rPr>
              <a:t> 单算子性能表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6384" y="2639187"/>
            <a:ext cx="5760720" cy="38404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metric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47104" y="2639187"/>
            <a:ext cx="2240280" cy="38404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value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384" y="3023235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analytical</a:t>
            </a:r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47104" y="3023235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1100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6384" y="3407283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hardware_measured_cycles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47104" y="3407283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10</a:t>
            </a:r>
            <a:r>
              <a:rPr lang="en-US" sz="1300" b="0">
                <a:solidFill>
                  <a:srgbClr val="212731"/>
                </a:solidFill>
                <a:latin typeface="Aptos"/>
              </a:rPr>
              <a:t>84</a:t>
            </a:r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" y="3791331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simulator_error_vs_measured(%)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47104" y="3791331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>
                <a:solidFill>
                  <a:srgbClr val="212731"/>
                </a:solidFill>
                <a:latin typeface="Aptos"/>
              </a:rPr>
              <a:t>1.48</a:t>
            </a:r>
            <a:r>
              <a:rPr sz="1300" b="0">
                <a:solidFill>
                  <a:srgbClr val="212731"/>
                </a:solidFill>
                <a:latin typeface="Aptos"/>
              </a:rPr>
              <a:t>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6384" y="4175379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roofline_compute_utilization(%)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47104" y="4175379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6384" y="4559427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47104" y="4559427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23.27%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6384" y="4943475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47104" y="4943475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25.00%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6384" y="5327523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roofline_bandwidth_utilization(%)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47104" y="5327523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81.25%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6384" y="5711571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47104" y="5711571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18.91%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86384" y="6095619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47104" y="6095619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20.31%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 · 单算子性能表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pic>
        <p:nvPicPr>
          <p:cNvPr id="30" name="图片 29"/>
          <p:cNvPicPr/>
          <p:nvPr/>
        </p:nvPicPr>
        <p:blipFill>
          <a:blip r:embed="rId1"/>
          <a:stretch>
            <a:fillRect/>
          </a:stretch>
        </p:blipFill>
        <p:spPr>
          <a:xfrm>
            <a:off x="4951095" y="778510"/>
            <a:ext cx="3466465" cy="171958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425" y="822325"/>
            <a:ext cx="3578225" cy="1676400"/>
          </a:xfrm>
          <a:prstGeom prst="rect">
            <a:avLst/>
          </a:prstGeom>
        </p:spPr>
      </p:pic>
      <p:sp>
        <p:nvSpPr>
          <p:cNvPr id="3" name="Rounded Rectangle 5"/>
          <p:cNvSpPr/>
          <p:nvPr/>
        </p:nvSpPr>
        <p:spPr>
          <a:xfrm>
            <a:off x="8787384" y="2638552"/>
            <a:ext cx="2240280" cy="38404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value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7"/>
          <p:cNvSpPr/>
          <p:nvPr/>
        </p:nvSpPr>
        <p:spPr>
          <a:xfrm>
            <a:off x="8787384" y="3022600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780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5" name="Rounded Rectangle 9"/>
          <p:cNvSpPr/>
          <p:nvPr/>
        </p:nvSpPr>
        <p:spPr>
          <a:xfrm>
            <a:off x="8787384" y="3406648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819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8787384" y="3790696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-4.76%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7" name="Rounded Rectangle 13"/>
          <p:cNvSpPr/>
          <p:nvPr/>
        </p:nvSpPr>
        <p:spPr>
          <a:xfrm>
            <a:off x="8787384" y="4174744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8" name="Rounded Rectangle 15"/>
          <p:cNvSpPr/>
          <p:nvPr/>
        </p:nvSpPr>
        <p:spPr>
          <a:xfrm>
            <a:off x="8787384" y="4558792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32.82%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31" name="Rounded Rectangle 17"/>
          <p:cNvSpPr/>
          <p:nvPr/>
        </p:nvSpPr>
        <p:spPr>
          <a:xfrm>
            <a:off x="8787384" y="4942840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31.26%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33" name="Rounded Rectangle 19"/>
          <p:cNvSpPr/>
          <p:nvPr/>
        </p:nvSpPr>
        <p:spPr>
          <a:xfrm>
            <a:off x="8787384" y="5326888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81.25%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44" name="Rounded Rectangle 21"/>
          <p:cNvSpPr/>
          <p:nvPr/>
        </p:nvSpPr>
        <p:spPr>
          <a:xfrm>
            <a:off x="8787384" y="5710936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26.67%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45" name="Rounded Rectangle 23"/>
          <p:cNvSpPr/>
          <p:nvPr/>
        </p:nvSpPr>
        <p:spPr>
          <a:xfrm>
            <a:off x="8787384" y="6094984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25.40%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9117965" y="6096000"/>
            <a:ext cx="1475105" cy="38354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9117965" y="4943475"/>
            <a:ext cx="1475105" cy="38354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cxnSp>
        <p:nvCxnSpPr>
          <p:cNvPr id="48" name="直接箭头连接符 47"/>
          <p:cNvCxnSpPr>
            <a:stCxn id="46" idx="1"/>
          </p:cNvCxnSpPr>
          <p:nvPr/>
        </p:nvCxnSpPr>
        <p:spPr>
          <a:xfrm flipH="1" flipV="1">
            <a:off x="3249930" y="1827530"/>
            <a:ext cx="5868035" cy="446024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13"/>
          <p:cNvSpPr/>
          <p:nvPr/>
        </p:nvSpPr>
        <p:spPr>
          <a:xfrm>
            <a:off x="1191260" y="1426210"/>
            <a:ext cx="205867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700" b="1">
                <a:solidFill>
                  <a:srgbClr val="212731"/>
                </a:solidFill>
                <a:latin typeface="Aptos"/>
              </a:rPr>
              <a:t>k</a:t>
            </a:r>
            <a:r>
              <a:rPr lang="zh-CN" altLang="en-US" sz="1700" b="1">
                <a:solidFill>
                  <a:srgbClr val="212731"/>
                </a:solidFill>
                <a:latin typeface="Aptos"/>
              </a:rPr>
              <a:t>小，</a:t>
            </a:r>
            <a:r>
              <a:rPr lang="en-US" altLang="zh-CN" sz="1700" b="1">
                <a:solidFill>
                  <a:srgbClr val="212731"/>
                </a:solidFill>
                <a:latin typeface="Aptos"/>
              </a:rPr>
              <a:t>data reuse</a:t>
            </a:r>
            <a:r>
              <a:rPr lang="zh-CN" altLang="en-US" sz="1700" b="1">
                <a:solidFill>
                  <a:srgbClr val="212731"/>
                </a:solidFill>
                <a:latin typeface="Aptos"/>
              </a:rPr>
              <a:t>少，写回用时</a:t>
            </a:r>
            <a:r>
              <a:rPr lang="zh-CN" altLang="en-US" sz="1700" b="1">
                <a:solidFill>
                  <a:srgbClr val="212731"/>
                </a:solidFill>
                <a:latin typeface="Aptos"/>
              </a:rPr>
              <a:t>长</a:t>
            </a:r>
            <a:endParaRPr lang="zh-CN" altLang="en-US" sz="1700" b="1">
              <a:solidFill>
                <a:srgbClr val="21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723"/>
            <a:ext cx="1051560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</a:t>
            </a:r>
            <a:r>
              <a:rPr lang="en-US" sz="2800" b="1">
                <a:solidFill>
                  <a:srgbClr val="212731"/>
                </a:solidFill>
                <a:latin typeface="Aptos"/>
              </a:rPr>
              <a:t>_4slices</a:t>
            </a:r>
            <a:r>
              <a:rPr sz="2800" b="1">
                <a:solidFill>
                  <a:srgbClr val="212731"/>
                </a:solidFill>
                <a:latin typeface="Aptos"/>
              </a:rPr>
              <a:t> </a:t>
            </a:r>
            <a:r>
              <a:rPr lang="zh-CN" sz="2800" b="1">
                <a:solidFill>
                  <a:srgbClr val="212731"/>
                </a:solidFill>
                <a:latin typeface="Aptos"/>
              </a:rPr>
              <a:t>不同</a:t>
            </a:r>
            <a:r>
              <a:rPr lang="en-US" altLang="zh-CN" sz="2800" b="1">
                <a:solidFill>
                  <a:srgbClr val="212731"/>
                </a:solidFill>
                <a:latin typeface="Aptos"/>
              </a:rPr>
              <a:t>size</a:t>
            </a:r>
            <a:r>
              <a:rPr sz="2800" b="1">
                <a:solidFill>
                  <a:srgbClr val="212731"/>
                </a:solidFill>
                <a:latin typeface="Aptos"/>
              </a:rPr>
              <a:t>性能表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50290" y="2693670"/>
            <a:ext cx="3354705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metric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50290" y="307784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analytical</a:t>
            </a:r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0290" y="3462020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hardware_measured_cycles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50290" y="384619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simulator_error_vs_measured(%)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50290" y="422973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roofline_compute_utilization(%)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0290" y="4613910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50290" y="499808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50290" y="5382260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roofline_bandwidth_utilization(%)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0290" y="576643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50290" y="614997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 · 单算子性能表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875" y="285750"/>
            <a:ext cx="4611370" cy="2160270"/>
          </a:xfrm>
          <a:prstGeom prst="rect">
            <a:avLst/>
          </a:prstGeom>
        </p:spPr>
      </p:pic>
      <p:sp>
        <p:nvSpPr>
          <p:cNvPr id="3" name="Rounded Rectangle 5"/>
          <p:cNvSpPr/>
          <p:nvPr/>
        </p:nvSpPr>
        <p:spPr>
          <a:xfrm>
            <a:off x="4404995" y="2692400"/>
            <a:ext cx="1450975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12731"/>
                </a:solidFill>
                <a:latin typeface="Aptos"/>
              </a:rPr>
              <a:t>M64N128</a:t>
            </a:r>
            <a:r>
              <a:rPr lang="en-US" sz="1400" b="1">
                <a:solidFill>
                  <a:srgbClr val="C00000"/>
                </a:solidFill>
                <a:latin typeface="Aptos"/>
              </a:rPr>
              <a:t>K16</a:t>
            </a:r>
            <a:endParaRPr lang="en-US" sz="14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4" name="Rounded Rectangle 7"/>
          <p:cNvSpPr/>
          <p:nvPr/>
        </p:nvSpPr>
        <p:spPr>
          <a:xfrm>
            <a:off x="4404995" y="3076575"/>
            <a:ext cx="145097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780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5" name="Rounded Rectangle 9"/>
          <p:cNvSpPr/>
          <p:nvPr/>
        </p:nvSpPr>
        <p:spPr>
          <a:xfrm>
            <a:off x="4404995" y="3460750"/>
            <a:ext cx="145097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819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6" name="Rounded Rectangle 11"/>
          <p:cNvSpPr/>
          <p:nvPr/>
        </p:nvSpPr>
        <p:spPr>
          <a:xfrm>
            <a:off x="4404995" y="3844925"/>
            <a:ext cx="145097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-4.76%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7" name="Rounded Rectangle 13"/>
          <p:cNvSpPr/>
          <p:nvPr/>
        </p:nvSpPr>
        <p:spPr>
          <a:xfrm>
            <a:off x="4404995" y="4228465"/>
            <a:ext cx="145097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8" name="Rounded Rectangle 15"/>
          <p:cNvSpPr/>
          <p:nvPr/>
        </p:nvSpPr>
        <p:spPr>
          <a:xfrm>
            <a:off x="4404995" y="4612640"/>
            <a:ext cx="145097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32.82%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31" name="Rounded Rectangle 17"/>
          <p:cNvSpPr/>
          <p:nvPr/>
        </p:nvSpPr>
        <p:spPr>
          <a:xfrm>
            <a:off x="4404995" y="4996815"/>
            <a:ext cx="145097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31.26%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33" name="Rounded Rectangle 19"/>
          <p:cNvSpPr/>
          <p:nvPr/>
        </p:nvSpPr>
        <p:spPr>
          <a:xfrm>
            <a:off x="4404995" y="5380990"/>
            <a:ext cx="145097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81.25%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44" name="Rounded Rectangle 21"/>
          <p:cNvSpPr/>
          <p:nvPr/>
        </p:nvSpPr>
        <p:spPr>
          <a:xfrm>
            <a:off x="4404995" y="5765165"/>
            <a:ext cx="145097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26.67%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45" name="Rounded Rectangle 23"/>
          <p:cNvSpPr/>
          <p:nvPr/>
        </p:nvSpPr>
        <p:spPr>
          <a:xfrm>
            <a:off x="4404995" y="6148705"/>
            <a:ext cx="145097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25.40%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48" name="Rounded Rectangle 5"/>
          <p:cNvSpPr/>
          <p:nvPr/>
        </p:nvSpPr>
        <p:spPr>
          <a:xfrm>
            <a:off x="5855970" y="2692400"/>
            <a:ext cx="1657350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12731"/>
                </a:solidFill>
                <a:latin typeface="Aptos"/>
                <a:sym typeface="+mn-ea"/>
              </a:rPr>
              <a:t>M32N128</a:t>
            </a:r>
            <a:r>
              <a:rPr lang="en-US" sz="1400" b="1">
                <a:solidFill>
                  <a:srgbClr val="C00000"/>
                </a:solidFill>
                <a:latin typeface="Aptos"/>
                <a:sym typeface="+mn-ea"/>
              </a:rPr>
              <a:t>K1024</a:t>
            </a:r>
            <a:endParaRPr lang="en-US" sz="14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5855970" y="307657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10296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0" name="Rounded Rectangle 9"/>
          <p:cNvSpPr/>
          <p:nvPr/>
        </p:nvSpPr>
        <p:spPr>
          <a:xfrm>
            <a:off x="5855970" y="346075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>
                <a:solidFill>
                  <a:srgbClr val="212731"/>
                </a:solidFill>
                <a:latin typeface="Aptos"/>
              </a:rPr>
              <a:t>10291</a:t>
            </a:r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1" name="Rounded Rectangle 11"/>
          <p:cNvSpPr/>
          <p:nvPr/>
        </p:nvSpPr>
        <p:spPr>
          <a:xfrm>
            <a:off x="5855970" y="384492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0.05%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2" name="Rounded Rectangle 13"/>
          <p:cNvSpPr/>
          <p:nvPr/>
        </p:nvSpPr>
        <p:spPr>
          <a:xfrm>
            <a:off x="5855970" y="422846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53" name="Rounded Rectangle 15"/>
          <p:cNvSpPr/>
          <p:nvPr/>
        </p:nvSpPr>
        <p:spPr>
          <a:xfrm>
            <a:off x="5855970" y="461264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79.56%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4" name="Rounded Rectangle 17"/>
          <p:cNvSpPr/>
          <p:nvPr/>
        </p:nvSpPr>
        <p:spPr>
          <a:xfrm>
            <a:off x="5855970" y="499681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79.60%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5" name="Rounded Rectangle 19"/>
          <p:cNvSpPr/>
          <p:nvPr/>
        </p:nvSpPr>
        <p:spPr>
          <a:xfrm>
            <a:off x="5855970" y="538099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32.03%</a:t>
            </a:r>
            <a:endParaRPr sz="13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56" name="Rounded Rectangle 21"/>
          <p:cNvSpPr/>
          <p:nvPr/>
        </p:nvSpPr>
        <p:spPr>
          <a:xfrm>
            <a:off x="5855970" y="576516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25.49%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5855970" y="614870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25.50%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69" name="Rounded Rectangle 13"/>
          <p:cNvSpPr/>
          <p:nvPr/>
        </p:nvSpPr>
        <p:spPr>
          <a:xfrm>
            <a:off x="88265" y="1064260"/>
            <a:ext cx="7116445" cy="101854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altLang="zh-CN" sz="1700" b="1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roofline_bandwidth_utilization</a:t>
            </a:r>
            <a:endParaRPr lang="en-US" altLang="zh-CN" sz="17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= roofline_limit / (peak_bandwidth * arithmetic_intensity)</a:t>
            </a:r>
            <a:endParaRPr lang="en-US" altLang="zh-CN" sz="17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roofline_limit= min(peak_compute, peak_bandwidth * AI)</a:t>
            </a:r>
            <a:endParaRPr lang="en-US" altLang="zh-CN" sz="17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380865" y="6150610"/>
            <a:ext cx="1475105" cy="38354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4380865" y="4998085"/>
            <a:ext cx="1475105" cy="38354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947410" y="4996815"/>
            <a:ext cx="1475105" cy="38354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8" name="Rounded Rectangle 13"/>
          <p:cNvSpPr/>
          <p:nvPr/>
        </p:nvSpPr>
        <p:spPr>
          <a:xfrm>
            <a:off x="7751445" y="4468495"/>
            <a:ext cx="4321810" cy="121539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- B-side row-switch bubbles: 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indent="457200"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1792 cycles (17.4%)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- tail psum + writeback drain: 	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indent="457200"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312 cycles (3.0%)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723"/>
            <a:ext cx="1051560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</a:t>
            </a:r>
            <a:r>
              <a:rPr lang="en-US" sz="2800" b="1">
                <a:solidFill>
                  <a:srgbClr val="212731"/>
                </a:solidFill>
                <a:latin typeface="Aptos"/>
              </a:rPr>
              <a:t>_4slices</a:t>
            </a:r>
            <a:r>
              <a:rPr sz="2800" b="1">
                <a:solidFill>
                  <a:srgbClr val="212731"/>
                </a:solidFill>
                <a:latin typeface="Aptos"/>
              </a:rPr>
              <a:t> </a:t>
            </a:r>
            <a:r>
              <a:rPr lang="zh-CN" sz="2800" b="1">
                <a:solidFill>
                  <a:srgbClr val="212731"/>
                </a:solidFill>
                <a:latin typeface="Aptos"/>
              </a:rPr>
              <a:t>不同</a:t>
            </a:r>
            <a:r>
              <a:rPr lang="zh-CN" altLang="en-US" sz="2800" b="1">
                <a:solidFill>
                  <a:srgbClr val="212731"/>
                </a:solidFill>
                <a:latin typeface="Aptos"/>
              </a:rPr>
              <a:t>配置</a:t>
            </a:r>
            <a:r>
              <a:rPr sz="2800" b="1">
                <a:solidFill>
                  <a:srgbClr val="212731"/>
                </a:solidFill>
                <a:latin typeface="Aptos"/>
              </a:rPr>
              <a:t>性能表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5540" y="2414905"/>
            <a:ext cx="3354705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metric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45540" y="318452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analytical</a:t>
            </a:r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45540" y="3568700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hardware_measured_cycles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45540" y="395287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simulator_error_vs_measured(%)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5540" y="433641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roofline_compute_utilization(%)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45540" y="4720590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45540" y="510476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45540" y="5488940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roofline_bandwidth_utilization(%)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45540" y="587311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45540" y="625665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 · 单算子性能表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3855" y="844550"/>
            <a:ext cx="3157855" cy="1479550"/>
          </a:xfrm>
          <a:prstGeom prst="rect">
            <a:avLst/>
          </a:prstGeom>
        </p:spPr>
      </p:pic>
      <p:sp>
        <p:nvSpPr>
          <p:cNvPr id="48" name="Rounded Rectangle 5"/>
          <p:cNvSpPr/>
          <p:nvPr/>
        </p:nvSpPr>
        <p:spPr>
          <a:xfrm>
            <a:off x="4500245" y="2413000"/>
            <a:ext cx="1657350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12731"/>
                </a:solidFill>
                <a:latin typeface="Aptos"/>
                <a:sym typeface="+mn-ea"/>
              </a:rPr>
              <a:t>M32N128</a:t>
            </a:r>
            <a:r>
              <a:rPr lang="en-US" sz="1400" b="1">
                <a:solidFill>
                  <a:srgbClr val="C00000"/>
                </a:solidFill>
                <a:latin typeface="Aptos"/>
                <a:sym typeface="+mn-ea"/>
              </a:rPr>
              <a:t>K1024</a:t>
            </a:r>
            <a:endParaRPr lang="en-US" sz="14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4500245" y="318262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10296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0" name="Rounded Rectangle 9"/>
          <p:cNvSpPr/>
          <p:nvPr/>
        </p:nvSpPr>
        <p:spPr>
          <a:xfrm>
            <a:off x="4500245" y="356679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>
                <a:solidFill>
                  <a:srgbClr val="212731"/>
                </a:solidFill>
                <a:latin typeface="Aptos"/>
              </a:rPr>
              <a:t>10291</a:t>
            </a:r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1" name="Rounded Rectangle 11"/>
          <p:cNvSpPr/>
          <p:nvPr/>
        </p:nvSpPr>
        <p:spPr>
          <a:xfrm>
            <a:off x="4500245" y="395097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0.05%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2" name="Rounded Rectangle 13"/>
          <p:cNvSpPr/>
          <p:nvPr/>
        </p:nvSpPr>
        <p:spPr>
          <a:xfrm>
            <a:off x="4500245" y="433451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53" name="Rounded Rectangle 15"/>
          <p:cNvSpPr/>
          <p:nvPr/>
        </p:nvSpPr>
        <p:spPr>
          <a:xfrm>
            <a:off x="4500245" y="471868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79.56%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4" name="Rounded Rectangle 17"/>
          <p:cNvSpPr/>
          <p:nvPr/>
        </p:nvSpPr>
        <p:spPr>
          <a:xfrm>
            <a:off x="4500245" y="510286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79.60%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5" name="Rounded Rectangle 19"/>
          <p:cNvSpPr/>
          <p:nvPr/>
        </p:nvSpPr>
        <p:spPr>
          <a:xfrm>
            <a:off x="4500245" y="548703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32.03%</a:t>
            </a:r>
            <a:endParaRPr sz="13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56" name="Rounded Rectangle 21"/>
          <p:cNvSpPr/>
          <p:nvPr/>
        </p:nvSpPr>
        <p:spPr>
          <a:xfrm>
            <a:off x="4500245" y="587121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25.49%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4500245" y="625475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25.50%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945" y="844550"/>
            <a:ext cx="3201035" cy="1499870"/>
          </a:xfrm>
          <a:prstGeom prst="rect">
            <a:avLst/>
          </a:prstGeom>
        </p:spPr>
      </p:pic>
      <p:sp>
        <p:nvSpPr>
          <p:cNvPr id="12" name="Rounded Rectangle 5"/>
          <p:cNvSpPr/>
          <p:nvPr/>
        </p:nvSpPr>
        <p:spPr>
          <a:xfrm>
            <a:off x="6157595" y="2412365"/>
            <a:ext cx="1657350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12731"/>
                </a:solidFill>
                <a:latin typeface="Aptos"/>
                <a:sym typeface="+mn-ea"/>
              </a:rPr>
              <a:t>M32N128</a:t>
            </a:r>
            <a:r>
              <a:rPr lang="en-US" sz="1400" b="1">
                <a:solidFill>
                  <a:srgbClr val="C00000"/>
                </a:solidFill>
                <a:latin typeface="Aptos"/>
                <a:sym typeface="+mn-ea"/>
              </a:rPr>
              <a:t>K1024</a:t>
            </a:r>
            <a:endParaRPr lang="en-US" sz="14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6157595" y="318198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6" name="Rounded Rectangle 9"/>
          <p:cNvSpPr/>
          <p:nvPr/>
        </p:nvSpPr>
        <p:spPr>
          <a:xfrm>
            <a:off x="6157595" y="356616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>
                <a:solidFill>
                  <a:srgbClr val="212731"/>
                </a:solidFill>
                <a:latin typeface="Aptos"/>
              </a:rPr>
              <a:t>9005</a:t>
            </a:r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8" name="Rounded Rectangle 11"/>
          <p:cNvSpPr/>
          <p:nvPr/>
        </p:nvSpPr>
        <p:spPr>
          <a:xfrm>
            <a:off x="6157595" y="395033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0" name="Rounded Rectangle 13"/>
          <p:cNvSpPr/>
          <p:nvPr/>
        </p:nvSpPr>
        <p:spPr>
          <a:xfrm>
            <a:off x="6157595" y="433387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2" name="Rounded Rectangle 15"/>
          <p:cNvSpPr/>
          <p:nvPr/>
        </p:nvSpPr>
        <p:spPr>
          <a:xfrm>
            <a:off x="6157595" y="471805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6157595" y="510222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90.97%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30" name="Rounded Rectangle 19"/>
          <p:cNvSpPr/>
          <p:nvPr/>
        </p:nvSpPr>
        <p:spPr>
          <a:xfrm>
            <a:off x="6157595" y="548640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32.03%</a:t>
            </a:r>
            <a:endParaRPr sz="13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34" name="Rounded Rectangle 21"/>
          <p:cNvSpPr/>
          <p:nvPr/>
        </p:nvSpPr>
        <p:spPr>
          <a:xfrm>
            <a:off x="6157595" y="587057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1300" b="0">
              <a:solidFill>
                <a:srgbClr val="212731"/>
              </a:solidFill>
              <a:latin typeface="Aptos"/>
              <a:sym typeface="+mn-ea"/>
            </a:endParaRPr>
          </a:p>
        </p:txBody>
      </p:sp>
      <p:sp>
        <p:nvSpPr>
          <p:cNvPr id="35" name="Rounded Rectangle 23"/>
          <p:cNvSpPr/>
          <p:nvPr/>
        </p:nvSpPr>
        <p:spPr>
          <a:xfrm>
            <a:off x="6157595" y="625411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29.14%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5" name="Rounded Rectangle 6"/>
          <p:cNvSpPr/>
          <p:nvPr/>
        </p:nvSpPr>
        <p:spPr>
          <a:xfrm>
            <a:off x="1145540" y="279971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roofline_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6" name="Rounded Rectangle 7"/>
          <p:cNvSpPr/>
          <p:nvPr/>
        </p:nvSpPr>
        <p:spPr>
          <a:xfrm>
            <a:off x="4500245" y="279781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8192</a:t>
            </a:r>
            <a:endParaRPr lang="en-US" sz="1300" b="0">
              <a:solidFill>
                <a:srgbClr val="212731"/>
              </a:solidFill>
              <a:latin typeface="Aptos"/>
              <a:sym typeface="+mn-ea"/>
            </a:endParaRPr>
          </a:p>
        </p:txBody>
      </p:sp>
      <p:sp>
        <p:nvSpPr>
          <p:cNvPr id="27" name="Rounded Rectangle 7"/>
          <p:cNvSpPr/>
          <p:nvPr/>
        </p:nvSpPr>
        <p:spPr>
          <a:xfrm>
            <a:off x="6157595" y="279717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8192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723"/>
            <a:ext cx="1051560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en-US" sz="2800" b="1">
                <a:solidFill>
                  <a:srgbClr val="212731"/>
                </a:solidFill>
                <a:latin typeface="Aptos"/>
              </a:rPr>
              <a:t>smallsize_model: </a:t>
            </a:r>
            <a:r>
              <a:rPr sz="2800" b="1">
                <a:solidFill>
                  <a:srgbClr val="212731"/>
                </a:solidFill>
                <a:latin typeface="Aptos"/>
              </a:rPr>
              <a:t>ring_gemm</a:t>
            </a:r>
            <a:r>
              <a:rPr lang="en-US" sz="2800" b="1">
                <a:solidFill>
                  <a:srgbClr val="212731"/>
                </a:solidFill>
                <a:latin typeface="Aptos"/>
              </a:rPr>
              <a:t>_28slices</a:t>
            </a:r>
            <a:r>
              <a:rPr sz="2800" b="1">
                <a:solidFill>
                  <a:srgbClr val="212731"/>
                </a:solidFill>
                <a:latin typeface="Aptos"/>
              </a:rPr>
              <a:t> </a:t>
            </a:r>
            <a:r>
              <a:rPr lang="zh-CN" sz="2800" b="1">
                <a:solidFill>
                  <a:srgbClr val="212731"/>
                </a:solidFill>
                <a:latin typeface="Aptos"/>
              </a:rPr>
              <a:t>不同</a:t>
            </a:r>
            <a:r>
              <a:rPr lang="zh-CN" altLang="en-US" sz="2800" b="1">
                <a:solidFill>
                  <a:srgbClr val="212731"/>
                </a:solidFill>
                <a:latin typeface="Aptos"/>
              </a:rPr>
              <a:t>配置</a:t>
            </a:r>
            <a:r>
              <a:rPr sz="2800" b="1">
                <a:solidFill>
                  <a:srgbClr val="212731"/>
                </a:solidFill>
                <a:latin typeface="Aptos"/>
              </a:rPr>
              <a:t>性能表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5540" y="2414905"/>
            <a:ext cx="3354705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metric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45540" y="318452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analytical</a:t>
            </a:r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45540" y="3568700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hardware_measured_cycles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45540" y="395287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simulator_error_vs_measured(%)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5540" y="433641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roofline_compute_utilization(%)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45540" y="4720590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45540" y="510476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45540" y="5488940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roofline_bandwidth_utilization(%)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45540" y="5873115"/>
            <a:ext cx="3354705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45540" y="625665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 · 单算子性能表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sp>
        <p:nvSpPr>
          <p:cNvPr id="48" name="Rounded Rectangle 5"/>
          <p:cNvSpPr/>
          <p:nvPr/>
        </p:nvSpPr>
        <p:spPr>
          <a:xfrm>
            <a:off x="4500245" y="2413000"/>
            <a:ext cx="1657350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12731"/>
                </a:solidFill>
                <a:latin typeface="Aptos"/>
                <a:sym typeface="+mn-ea"/>
              </a:rPr>
              <a:t>M32N1792</a:t>
            </a:r>
            <a:r>
              <a:rPr lang="en-US" sz="1400" b="1">
                <a:solidFill>
                  <a:srgbClr val="C00000"/>
                </a:solidFill>
                <a:latin typeface="Aptos"/>
                <a:sym typeface="+mn-ea"/>
              </a:rPr>
              <a:t>K896</a:t>
            </a:r>
            <a:endParaRPr lang="en-US" sz="14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4500245" y="318262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18764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0" name="Rounded Rectangle 9"/>
          <p:cNvSpPr/>
          <p:nvPr/>
        </p:nvSpPr>
        <p:spPr>
          <a:xfrm>
            <a:off x="4500245" y="356679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19607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1" name="Rounded Rectangle 11"/>
          <p:cNvSpPr/>
          <p:nvPr/>
        </p:nvSpPr>
        <p:spPr>
          <a:xfrm>
            <a:off x="4500245" y="395097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-4.30%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2" name="Rounded Rectangle 13"/>
          <p:cNvSpPr/>
          <p:nvPr/>
        </p:nvSpPr>
        <p:spPr>
          <a:xfrm>
            <a:off x="4500245" y="433451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53" name="Rounded Rectangle 15"/>
          <p:cNvSpPr/>
          <p:nvPr/>
        </p:nvSpPr>
        <p:spPr>
          <a:xfrm>
            <a:off x="4500245" y="471868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>
                <a:solidFill>
                  <a:srgbClr val="212731"/>
                </a:solidFill>
                <a:latin typeface="Aptos"/>
                <a:sym typeface="+mn-ea"/>
              </a:rPr>
              <a:t>76.40</a:t>
            </a:r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4" name="Rounded Rectangle 17"/>
          <p:cNvSpPr/>
          <p:nvPr/>
        </p:nvSpPr>
        <p:spPr>
          <a:xfrm>
            <a:off x="4500245" y="510286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>
                <a:solidFill>
                  <a:srgbClr val="212731"/>
                </a:solidFill>
                <a:latin typeface="Aptos"/>
                <a:sym typeface="+mn-ea"/>
              </a:rPr>
              <a:t>73.12</a:t>
            </a:r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5" name="Rounded Rectangle 19"/>
          <p:cNvSpPr/>
          <p:nvPr/>
        </p:nvSpPr>
        <p:spPr>
          <a:xfrm>
            <a:off x="4500245" y="548703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1">
                <a:solidFill>
                  <a:srgbClr val="C00000"/>
                </a:solidFill>
                <a:latin typeface="Aptos"/>
                <a:sym typeface="+mn-ea"/>
              </a:rPr>
              <a:t>26.79</a:t>
            </a:r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%</a:t>
            </a:r>
            <a:endParaRPr sz="13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56" name="Rounded Rectangle 21"/>
          <p:cNvSpPr/>
          <p:nvPr/>
        </p:nvSpPr>
        <p:spPr>
          <a:xfrm>
            <a:off x="4500245" y="587121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20.46%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4500245" y="625475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19.58%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945" y="844550"/>
            <a:ext cx="3201035" cy="1499870"/>
          </a:xfrm>
          <a:prstGeom prst="rect">
            <a:avLst/>
          </a:prstGeom>
        </p:spPr>
      </p:pic>
      <p:sp>
        <p:nvSpPr>
          <p:cNvPr id="12" name="Rounded Rectangle 5"/>
          <p:cNvSpPr/>
          <p:nvPr/>
        </p:nvSpPr>
        <p:spPr>
          <a:xfrm>
            <a:off x="6157595" y="2412365"/>
            <a:ext cx="1657350" cy="384175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212731"/>
                </a:solidFill>
                <a:latin typeface="Aptos"/>
                <a:sym typeface="+mn-ea"/>
              </a:rPr>
              <a:t>M32N1792</a:t>
            </a:r>
            <a:r>
              <a:rPr lang="en-US" sz="1400" b="1">
                <a:solidFill>
                  <a:srgbClr val="C00000"/>
                </a:solidFill>
                <a:latin typeface="Aptos"/>
                <a:sym typeface="+mn-ea"/>
              </a:rPr>
              <a:t>K896</a:t>
            </a:r>
            <a:endParaRPr lang="en-US" sz="14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6157595" y="318198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6" name="Rounded Rectangle 9"/>
          <p:cNvSpPr/>
          <p:nvPr/>
        </p:nvSpPr>
        <p:spPr>
          <a:xfrm>
            <a:off x="6157595" y="3566160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>
                <a:solidFill>
                  <a:srgbClr val="212731"/>
                </a:solidFill>
                <a:latin typeface="Aptos"/>
              </a:rPr>
              <a:t>15532</a:t>
            </a:r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8" name="Rounded Rectangle 11"/>
          <p:cNvSpPr/>
          <p:nvPr/>
        </p:nvSpPr>
        <p:spPr>
          <a:xfrm>
            <a:off x="6157595" y="395033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0" name="Rounded Rectangle 13"/>
          <p:cNvSpPr/>
          <p:nvPr/>
        </p:nvSpPr>
        <p:spPr>
          <a:xfrm>
            <a:off x="6157595" y="433387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2" name="Rounded Rectangle 15"/>
          <p:cNvSpPr/>
          <p:nvPr/>
        </p:nvSpPr>
        <p:spPr>
          <a:xfrm>
            <a:off x="6157595" y="471805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6157595" y="510222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92.24%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30" name="Rounded Rectangle 19"/>
          <p:cNvSpPr/>
          <p:nvPr/>
        </p:nvSpPr>
        <p:spPr>
          <a:xfrm>
            <a:off x="6157595" y="548640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1">
                <a:solidFill>
                  <a:srgbClr val="C00000"/>
                </a:solidFill>
                <a:latin typeface="Aptos"/>
                <a:sym typeface="+mn-ea"/>
              </a:rPr>
              <a:t>26.79</a:t>
            </a:r>
            <a:r>
              <a:rPr sz="1300" b="1">
                <a:solidFill>
                  <a:srgbClr val="C00000"/>
                </a:solidFill>
                <a:latin typeface="Aptos"/>
                <a:sym typeface="+mn-ea"/>
              </a:rPr>
              <a:t>%</a:t>
            </a:r>
            <a:endParaRPr sz="1300" b="1">
              <a:solidFill>
                <a:srgbClr val="C00000"/>
              </a:solidFill>
              <a:latin typeface="Aptos"/>
              <a:sym typeface="+mn-ea"/>
            </a:endParaRPr>
          </a:p>
        </p:txBody>
      </p:sp>
      <p:sp>
        <p:nvSpPr>
          <p:cNvPr id="34" name="Rounded Rectangle 21"/>
          <p:cNvSpPr/>
          <p:nvPr/>
        </p:nvSpPr>
        <p:spPr>
          <a:xfrm>
            <a:off x="6157595" y="5870575"/>
            <a:ext cx="1657350" cy="38417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1300" b="0">
              <a:solidFill>
                <a:srgbClr val="212731"/>
              </a:solidFill>
              <a:latin typeface="Aptos"/>
              <a:sym typeface="+mn-ea"/>
            </a:endParaRPr>
          </a:p>
        </p:txBody>
      </p:sp>
      <p:sp>
        <p:nvSpPr>
          <p:cNvPr id="35" name="Rounded Rectangle 23"/>
          <p:cNvSpPr/>
          <p:nvPr/>
        </p:nvSpPr>
        <p:spPr>
          <a:xfrm>
            <a:off x="6157595" y="625411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</a:rPr>
              <a:t>24.71%</a:t>
            </a:r>
            <a:endParaRPr lang="en-US" altLang="zh-CN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5" name="Rounded Rectangle 6"/>
          <p:cNvSpPr/>
          <p:nvPr/>
        </p:nvSpPr>
        <p:spPr>
          <a:xfrm>
            <a:off x="1145540" y="2799715"/>
            <a:ext cx="3354705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roofline_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6" name="Rounded Rectangle 7"/>
          <p:cNvSpPr/>
          <p:nvPr/>
        </p:nvSpPr>
        <p:spPr>
          <a:xfrm>
            <a:off x="4500245" y="2797810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 b="0">
                <a:solidFill>
                  <a:srgbClr val="212731"/>
                </a:solidFill>
                <a:latin typeface="Aptos"/>
                <a:sym typeface="+mn-ea"/>
              </a:rPr>
              <a:t>14336</a:t>
            </a:r>
            <a:endParaRPr lang="en-US" altLang="zh-CN" sz="1300" b="0">
              <a:solidFill>
                <a:srgbClr val="212731"/>
              </a:solidFill>
              <a:latin typeface="Aptos"/>
              <a:sym typeface="+mn-ea"/>
            </a:endParaRPr>
          </a:p>
        </p:txBody>
      </p:sp>
      <p:sp>
        <p:nvSpPr>
          <p:cNvPr id="27" name="Rounded Rectangle 7"/>
          <p:cNvSpPr/>
          <p:nvPr/>
        </p:nvSpPr>
        <p:spPr>
          <a:xfrm>
            <a:off x="6157595" y="2797175"/>
            <a:ext cx="1657350" cy="3841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300">
                <a:solidFill>
                  <a:srgbClr val="212731"/>
                </a:solidFill>
                <a:latin typeface="Aptos"/>
                <a:sym typeface="+mn-ea"/>
              </a:rPr>
              <a:t>14336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2972435" y="828040"/>
            <a:ext cx="3249295" cy="151638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247130" y="5103495"/>
            <a:ext cx="1475105" cy="38354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8" name="Rounded Rectangle 13"/>
          <p:cNvSpPr/>
          <p:nvPr/>
        </p:nvSpPr>
        <p:spPr>
          <a:xfrm>
            <a:off x="7962265" y="4543425"/>
            <a:ext cx="4016375" cy="121539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- B-side event-ready </a:t>
            </a:r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bubbles: 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indent="457200"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858 cycles (5.5%)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- completion tail: 	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indent="457200" algn="l"/>
            <a:r>
              <a:rPr lang="en-US" altLang="zh-CN" sz="1600" b="1">
                <a:solidFill>
                  <a:srgbClr val="212731"/>
                </a:solidFill>
                <a:latin typeface="Consolas" panose="020B0609020204030204" charset="0"/>
                <a:cs typeface="Consolas" panose="020B0609020204030204" charset="0"/>
              </a:rPr>
              <a:t>326 cycles (2.1%)</a:t>
            </a:r>
            <a:endParaRPr lang="en-US" altLang="zh-CN" sz="1600" b="1">
              <a:solidFill>
                <a:srgbClr val="21273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 性能分析方法图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0">
                <a:solidFill>
                  <a:srgbClr val="747B87"/>
                </a:solidFill>
                <a:latin typeface="Aptos"/>
              </a:rPr>
              <a:t>loop nest → template tile → load event → microtile timeline → final bounds</a:t>
            </a:r>
            <a:endParaRPr sz="1100" b="0">
              <a:solidFill>
                <a:srgbClr val="747B87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055" y="1134110"/>
            <a:ext cx="3281045" cy="114300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12731"/>
                </a:solidFill>
                <a:latin typeface="Aptos"/>
              </a:rPr>
              <a:t>ring_gemm_bias.json
Global: M=64, N=128, K=16
Local: A=64×4, B=16×32, Out=64×32</a:t>
            </a:r>
            <a:endParaRPr sz="16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49420" y="1134110"/>
            <a:ext cx="2011680" cy="114300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212731"/>
                </a:solidFill>
                <a:latin typeface="Aptos"/>
              </a:rPr>
              <a:t>event</a:t>
            </a:r>
            <a:r>
              <a:rPr sz="1800" b="1">
                <a:solidFill>
                  <a:srgbClr val="212731"/>
                </a:solidFill>
                <a:latin typeface="Aptos"/>
              </a:rPr>
              <a:t>规模
A events = 4
B events = 16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35420" y="1134110"/>
            <a:ext cx="2194560" cy="114300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关键瓶颈
memory = 1100
ring = 612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004300" y="1134110"/>
            <a:ext cx="2286000" cy="114300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最终延迟
latency = 1100</a:t>
            </a:r>
            <a:endParaRPr sz="18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lang="zh-CN" sz="1800" b="1">
                <a:solidFill>
                  <a:srgbClr val="212731"/>
                </a:solidFill>
                <a:latin typeface="Aptos"/>
              </a:rPr>
              <a:t>测量值</a:t>
            </a:r>
            <a:endParaRPr lang="zh-CN" sz="18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lang="en-US" altLang="zh-CN" sz="1800" b="1">
                <a:solidFill>
                  <a:srgbClr val="212731"/>
                </a:solidFill>
                <a:latin typeface="Aptos"/>
              </a:rPr>
              <a:t>latency = 1024</a:t>
            </a:r>
            <a:endParaRPr lang="en-US" altLang="zh-CN"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0607040" cy="2697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3855" y="3127693"/>
            <a:ext cx="10149840" cy="372745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zh-CN" sz="1600" b="1">
                <a:solidFill>
                  <a:srgbClr val="212731"/>
                </a:solidFill>
                <a:latin typeface="Aptos"/>
              </a:rPr>
              <a:t>根据</a:t>
            </a:r>
            <a:r>
              <a:rPr lang="en-US" altLang="zh-CN" sz="1600" b="1">
                <a:solidFill>
                  <a:srgbClr val="212731"/>
                </a:solidFill>
                <a:latin typeface="Aptos"/>
              </a:rPr>
              <a:t> loop nest </a:t>
            </a:r>
            <a:r>
              <a:rPr sz="1600" b="1">
                <a:solidFill>
                  <a:srgbClr val="212731"/>
                </a:solidFill>
                <a:latin typeface="Aptos"/>
              </a:rPr>
              <a:t>生成</a:t>
            </a:r>
            <a:r>
              <a:rPr lang="en-US" sz="1600" b="1">
                <a:solidFill>
                  <a:srgbClr val="212731"/>
                </a:solidFill>
                <a:latin typeface="Aptos"/>
              </a:rPr>
              <a:t>events</a:t>
            </a:r>
            <a:r>
              <a:rPr sz="1600" b="1">
                <a:solidFill>
                  <a:srgbClr val="212731"/>
                </a:solidFill>
                <a:latin typeface="Aptos"/>
              </a:rPr>
              <a:t>，再让 A/B/ring/PE/psum/writeback 在时间线上相互约束。</a:t>
            </a:r>
            <a:endParaRPr sz="16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36980" y="4023360"/>
            <a:ext cx="1325880" cy="7315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loop nest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7180" y="4023360"/>
            <a:ext cx="1600200" cy="7315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template tiles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7420" y="4023360"/>
            <a:ext cx="1600200" cy="73152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load events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3380" y="4023360"/>
            <a:ext cx="1828800" cy="7315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microtile timeline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3660" y="4023360"/>
            <a:ext cx="169164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final bounds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562860" y="4389120"/>
            <a:ext cx="27432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37380" y="438912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57620" y="438912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7900" y="438912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2</a:t>
            </a:r>
            <a:r>
              <a:rPr sz="900" b="0">
                <a:solidFill>
                  <a:srgbClr val="747B87"/>
                </a:solidFill>
                <a:latin typeface="Aptos"/>
              </a:rPr>
              <a:t> · 总览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5445" y="36830"/>
            <a:ext cx="11688445" cy="9791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pPr algn="l"/>
            <a:r>
              <a:rPr sz="2400" b="1">
                <a:solidFill>
                  <a:srgbClr val="212731"/>
                </a:solidFill>
                <a:latin typeface="Aptos"/>
              </a:rPr>
              <a:t>Loop Nest 抽象模型：</a:t>
            </a:r>
            <a:r>
              <a:rPr lang="zh-CN" sz="2400" b="1">
                <a:solidFill>
                  <a:srgbClr val="212731"/>
                </a:solidFill>
                <a:latin typeface="Aptos"/>
              </a:rPr>
              <a:t>不同于通用算子，专用算子中的</a:t>
            </a:r>
            <a:r>
              <a:rPr lang="en-US" altLang="zh-CN" sz="2400" b="1">
                <a:solidFill>
                  <a:srgbClr val="212731"/>
                </a:solidFill>
                <a:latin typeface="Aptos"/>
              </a:rPr>
              <a:t>tensor tile</a:t>
            </a:r>
            <a:r>
              <a:rPr lang="zh-CN" altLang="en-US" sz="2400" b="1">
                <a:solidFill>
                  <a:srgbClr val="212731"/>
                </a:solidFill>
                <a:latin typeface="Aptos"/>
              </a:rPr>
              <a:t>会重复访问</a:t>
            </a:r>
            <a:endParaRPr lang="zh-CN" altLang="en-US"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05105" y="3340100"/>
            <a:ext cx="4120515" cy="324548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7970" y="3742373"/>
            <a:ext cx="5376545" cy="2342515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b="0">
                <a:solidFill>
                  <a:srgbClr val="212731"/>
                </a:solidFill>
                <a:latin typeface="Consolas" panose="020B0609020204030204"/>
              </a:rPr>
              <a:t>for M_0 in range(2)
  for N_0 in range(1)
    for K</a:t>
            </a:r>
            <a:r>
              <a:rPr lang="en-US" b="0">
                <a:solidFill>
                  <a:srgbClr val="212731"/>
                </a:solidFill>
                <a:latin typeface="Consolas" panose="020B0609020204030204"/>
              </a:rPr>
              <a:t>A</a:t>
            </a:r>
            <a:r>
              <a:rPr b="0">
                <a:solidFill>
                  <a:srgbClr val="212731"/>
                </a:solidFill>
                <a:latin typeface="Consolas" panose="020B0609020204030204"/>
              </a:rPr>
              <a:t>_0 in range(2)
      ag0(...)      # A loads
    for K</a:t>
            </a:r>
            <a:r>
              <a:rPr lang="en-US" b="0">
                <a:solidFill>
                  <a:srgbClr val="212731"/>
                </a:solidFill>
                <a:latin typeface="Consolas" panose="020B0609020204030204"/>
              </a:rPr>
              <a:t>B</a:t>
            </a:r>
            <a:r>
              <a:rPr b="0">
                <a:solidFill>
                  <a:srgbClr val="212731"/>
                </a:solidFill>
                <a:latin typeface="Consolas" panose="020B0609020204030204"/>
              </a:rPr>
              <a:t>_0 in range(</a:t>
            </a:r>
            <a:r>
              <a:rPr lang="en-US" b="0">
                <a:solidFill>
                  <a:srgbClr val="212731"/>
                </a:solidFill>
                <a:latin typeface="Consolas" panose="020B0609020204030204"/>
              </a:rPr>
              <a:t>8</a:t>
            </a:r>
            <a:r>
              <a:rPr b="0">
                <a:solidFill>
                  <a:srgbClr val="212731"/>
                </a:solidFill>
                <a:latin typeface="Consolas" panose="020B0609020204030204"/>
              </a:rPr>
              <a:t>)
      ag1(...)
      ag2(...)      # B loads
    ag4(...)        # writeback</a:t>
            </a:r>
            <a:endParaRPr b="0">
              <a:solidFill>
                <a:srgbClr val="212731"/>
              </a:solidFill>
              <a:latin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42485" y="1325880"/>
            <a:ext cx="2423160" cy="11887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load scope
(M_0, N_0, KM_0)
2 × 1 × 2 = 4 events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42485" y="2880360"/>
            <a:ext cx="2423160" cy="118872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load scope
(M_0, N_0, k_tile)
2 × 1 × 8 = 16 events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42485" y="4434840"/>
            <a:ext cx="2423160" cy="11887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writeback scope
output tile complete
2 write groups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29475" y="1280160"/>
            <a:ext cx="4799330" cy="4526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212731"/>
                </a:solidFill>
                <a:latin typeface="Aptos"/>
              </a:rPr>
              <a:t>抽象语义</a:t>
            </a:r>
            <a:r>
              <a:rPr b="0">
                <a:solidFill>
                  <a:srgbClr val="212731"/>
                </a:solidFill>
                <a:latin typeface="Aptos"/>
              </a:rPr>
              <a:t>
• A 的</a:t>
            </a:r>
            <a:r>
              <a:rPr lang="en-US" b="0">
                <a:solidFill>
                  <a:srgbClr val="212731"/>
                </a:solidFill>
                <a:latin typeface="Aptos"/>
              </a:rPr>
              <a:t>event</a:t>
            </a:r>
            <a:r>
              <a:rPr b="0">
                <a:solidFill>
                  <a:srgbClr val="212731"/>
                </a:solidFill>
                <a:latin typeface="Aptos"/>
              </a:rPr>
              <a:t>重复由 (M_0, N_0, KM_0) 决定
• B 的</a:t>
            </a:r>
            <a:r>
              <a:rPr lang="en-US" b="0">
                <a:solidFill>
                  <a:srgbClr val="212731"/>
                </a:solidFill>
                <a:latin typeface="Aptos"/>
              </a:rPr>
              <a:t>event</a:t>
            </a:r>
            <a:r>
              <a:rPr b="0">
                <a:solidFill>
                  <a:srgbClr val="212731"/>
                </a:solidFill>
                <a:latin typeface="Aptos"/>
              </a:rPr>
              <a:t>重复由 (M_0, N_0, KN_0 / k_tile) 决定</a:t>
            </a:r>
            <a:endParaRPr b="0">
              <a:solidFill>
                <a:srgbClr val="212731"/>
              </a:solidFill>
              <a:latin typeface="Aptos"/>
            </a:endParaRPr>
          </a:p>
          <a:p>
            <a:pPr algn="l"/>
            <a:endParaRPr b="0">
              <a:solidFill>
                <a:srgbClr val="212731"/>
              </a:solidFill>
              <a:latin typeface="Aptos"/>
            </a:endParaRPr>
          </a:p>
          <a:p>
            <a:pPr algn="l"/>
            <a:r>
              <a:rPr b="0">
                <a:solidFill>
                  <a:srgbClr val="212731"/>
                </a:solidFill>
                <a:latin typeface="Aptos"/>
              </a:rPr>
              <a:t>
• </a:t>
            </a:r>
            <a:r>
              <a:rPr b="1">
                <a:solidFill>
                  <a:srgbClr val="212731"/>
                </a:solidFill>
                <a:latin typeface="Aptos"/>
              </a:rPr>
              <a:t>这个 loop tree </a:t>
            </a:r>
            <a:r>
              <a:rPr lang="zh-CN" b="1">
                <a:solidFill>
                  <a:srgbClr val="212731"/>
                </a:solidFill>
                <a:latin typeface="Aptos"/>
              </a:rPr>
              <a:t>导致请求个数不是由</a:t>
            </a:r>
            <a:r>
              <a:rPr lang="en-US" altLang="zh-CN" b="1">
                <a:solidFill>
                  <a:srgbClr val="212731"/>
                </a:solidFill>
                <a:latin typeface="Aptos"/>
              </a:rPr>
              <a:t>tensor footprint</a:t>
            </a:r>
            <a:r>
              <a:rPr lang="zh-CN" altLang="en-US" b="1">
                <a:solidFill>
                  <a:srgbClr val="212731"/>
                </a:solidFill>
                <a:latin typeface="Aptos"/>
              </a:rPr>
              <a:t>本身决定，而是会</a:t>
            </a:r>
            <a:r>
              <a:rPr b="1">
                <a:solidFill>
                  <a:srgbClr val="212731"/>
                </a:solidFill>
                <a:latin typeface="Aptos"/>
              </a:rPr>
              <a:t> request multiplicity</a:t>
            </a:r>
            <a:r>
              <a:rPr b="0">
                <a:solidFill>
                  <a:srgbClr val="212731"/>
                </a:solidFill>
                <a:latin typeface="Aptos"/>
              </a:rPr>
              <a:t> </a:t>
            </a:r>
            <a:endParaRPr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3</a:t>
            </a:r>
            <a:r>
              <a:rPr sz="900" b="0">
                <a:solidFill>
                  <a:srgbClr val="747B87"/>
                </a:solidFill>
                <a:latin typeface="Aptos"/>
              </a:rPr>
              <a:t> · loop scope 决定 event multiplicity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" y="410210"/>
            <a:ext cx="3696335" cy="2929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Template Tile → Load Event：几何唯一块如何变成真实事件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743200" cy="100584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footprint requests
A=32  B=64  W=256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66160" y="1097280"/>
            <a:ext cx="2194560" cy="100584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_split_requests_exact()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0760" y="1097280"/>
            <a:ext cx="2651760" cy="100584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template tiles
A=4, B=8, Out=2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98280" y="1097280"/>
            <a:ext cx="2194560" cy="100584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12731"/>
                </a:solidFill>
                <a:latin typeface="Aptos"/>
              </a:rPr>
              <a:t>_expand_ring_gemm_load_events()</a:t>
            </a:r>
            <a:endParaRPr sz="16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01660" y="2468880"/>
            <a:ext cx="2560320" cy="10972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load events
A=4
B=16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46120" y="160020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160020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160020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743200"/>
            <a:ext cx="2926080" cy="2560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A template tiles
T0=(M[0:32],K[0:2])
T1=(M[0:32],K[2:4])
T2=(M[32:64],K[0:2])
T3=(M[32:64],K[2:4])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77639" y="2743200"/>
            <a:ext cx="3108960" cy="2560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B template tiles
8 unique K-slices over N[0:32]
each tile = 2×32 = 128B = 8 req
几何上只有 8 个 unique B tiles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07300" y="3790315"/>
            <a:ext cx="3749040" cy="2821305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event semantics
A: 4 template tiles → 4 load events
B: 8 template tiles → 16 load events
因此：
b_requests=64 只是 footprint
expanded_b_requests=128 才是执行真实请求流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8812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4</a:t>
            </a:r>
            <a:r>
              <a:rPr sz="900" b="0">
                <a:solidFill>
                  <a:srgbClr val="747B87"/>
                </a:solidFill>
                <a:latin typeface="Aptos"/>
              </a:rPr>
              <a:t> · template tile 与 load event 是两个层次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资源约束图：ping/pong、ring-ready、PE、psum 如何共同决定 coarse_start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92024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ping / pong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1920240" cy="8686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ping / pong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611880"/>
            <a:ext cx="192024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psum ping / pong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local ready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54680" y="242316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ready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54680" y="361188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PE available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23560" y="1234440"/>
            <a:ext cx="210312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ring_ready
= A ready + hop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23560" y="3611880"/>
            <a:ext cx="210312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psum slot ready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83879" y="2331720"/>
            <a:ext cx="2148840" cy="1051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12731"/>
                </a:solidFill>
                <a:latin typeface="Aptos"/>
              </a:rPr>
              <a:t>coarse_start
= max(PE, ring, B, psum)</a:t>
            </a:r>
            <a:endParaRPr sz="20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561320" y="2331720"/>
            <a:ext cx="1229360" cy="1051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PE
compute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166420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0320" y="285292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404164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1664208"/>
            <a:ext cx="4572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66360" y="2852928"/>
            <a:ext cx="3017519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66360" y="2852928"/>
            <a:ext cx="3017519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1664208"/>
            <a:ext cx="457200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26679" y="2852928"/>
            <a:ext cx="457200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2852928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98348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当前实现里：A slot 要等最后一个 ring-hop 消费完才释放；B slot 在当前 coarse compute 后即可释放。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5</a:t>
            </a:r>
            <a:r>
              <a:rPr sz="900" b="0">
                <a:solidFill>
                  <a:srgbClr val="747B87"/>
                </a:solidFill>
                <a:latin typeface="Aptos"/>
              </a:rPr>
              <a:t> · coarse_start 由多资源依赖共同决定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bank-level 简化模型：事件如何进入 memory timeline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95160" y="4526280"/>
            <a:ext cx="4572000" cy="23317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当前已准确表达
• request 按 release_cycle 注入
• bank 内 row / phase 状态
• write buffer occupancy + forced drain
• group ready = full-group completion
• A/B/writeback event completion 反馈到上层 timeline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73215" y="2129790"/>
            <a:ext cx="5257800" cy="23317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当前仍然简化
• ring_gemm 没完全复用 ordinary operator 的 controller / arbiter 语义
• bank 侧是 lighter event loop，不是显式 arbiter1 / arbiter2 竞赛
• 但它已经足够提供 A/B ready、writeback completion 和 memory_timeline 的关键路径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6</a:t>
            </a:r>
            <a:r>
              <a:rPr sz="900" b="0">
                <a:solidFill>
                  <a:srgbClr val="747B87"/>
                </a:solidFill>
                <a:latin typeface="Aptos"/>
              </a:rPr>
              <a:t> · 当前 memory model 的准确性与边界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sp>
        <p:nvSpPr>
          <p:cNvPr id="15" name="Rounded Rectangle 2"/>
          <p:cNvSpPr/>
          <p:nvPr/>
        </p:nvSpPr>
        <p:spPr>
          <a:xfrm>
            <a:off x="949960" y="1153160"/>
            <a:ext cx="1874519" cy="8229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A/B load event group
(one event = many requests)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6" name="Rounded Rectangle 3"/>
          <p:cNvSpPr/>
          <p:nvPr/>
        </p:nvSpPr>
        <p:spPr>
          <a:xfrm>
            <a:off x="3053080" y="1153160"/>
            <a:ext cx="1874519" cy="8229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future_reads /
future_writes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5156200" y="1153160"/>
            <a:ext cx="1874519" cy="8229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ready queues
by bank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8" name="Rounded Rectangle 5"/>
          <p:cNvSpPr/>
          <p:nvPr/>
        </p:nvSpPr>
        <p:spPr>
          <a:xfrm>
            <a:off x="7259320" y="1153160"/>
            <a:ext cx="1874519" cy="8229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per-bank service
(row / phase / drain)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6"/>
          <p:cNvSpPr/>
          <p:nvPr/>
        </p:nvSpPr>
        <p:spPr>
          <a:xfrm>
            <a:off x="9362440" y="1153160"/>
            <a:ext cx="1874519" cy="8229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group ready
(full-group completion)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20" name="Connector 7"/>
          <p:cNvCxnSpPr/>
          <p:nvPr/>
        </p:nvCxnSpPr>
        <p:spPr>
          <a:xfrm>
            <a:off x="282448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8"/>
          <p:cNvCxnSpPr/>
          <p:nvPr/>
        </p:nvCxnSpPr>
        <p:spPr>
          <a:xfrm>
            <a:off x="492760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/>
          <p:cNvCxnSpPr/>
          <p:nvPr/>
        </p:nvCxnSpPr>
        <p:spPr>
          <a:xfrm>
            <a:off x="703072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0"/>
          <p:cNvCxnSpPr/>
          <p:nvPr/>
        </p:nvCxnSpPr>
        <p:spPr>
          <a:xfrm>
            <a:off x="913384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1"/>
          <p:cNvSpPr/>
          <p:nvPr/>
        </p:nvSpPr>
        <p:spPr>
          <a:xfrm>
            <a:off x="544195" y="2868295"/>
            <a:ext cx="210312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A event 0
8 requests
release = 0
ready = 28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5" name="Rounded Rectangle 12"/>
          <p:cNvSpPr/>
          <p:nvPr/>
        </p:nvSpPr>
        <p:spPr>
          <a:xfrm>
            <a:off x="544195" y="4468495"/>
            <a:ext cx="210312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B event 0
8 requests
release = 0
ready = 88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6" name="Rounded Rectangle 13"/>
          <p:cNvSpPr/>
          <p:nvPr/>
        </p:nvSpPr>
        <p:spPr>
          <a:xfrm>
            <a:off x="2800985" y="2238375"/>
            <a:ext cx="3718560" cy="406336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0">
                <a:solidFill>
                  <a:srgbClr val="212731"/>
                </a:solidFill>
                <a:latin typeface="Aptos"/>
              </a:rPr>
              <a:t>bank timeline 抽象过程
1. event 的 requests 先挂到 future_reads / future_writes
2. release_cycle 到了之后，按 bank_id 进入 ready queues
3. per-bank timeline 决定每条 request 何时完成
4. 只有当同一 group 的全部 requests 都完成时，才写 completion_by_group[group_key]
5. 这个完成时间就是 event ready time</a:t>
            </a:r>
            <a:endParaRPr sz="1700" b="0">
              <a:solidFill>
                <a:srgbClr val="21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850"/>
            <a:ext cx="1131443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一个 output tile 内部：A/B event ready 与 coarse compute 时间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987552"/>
            <a:ext cx="2148840" cy="749808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output tile 0
M[0:32], N[0:32]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" y="180136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700" b="1">
                <a:solidFill>
                  <a:srgbClr val="2462D2"/>
                </a:solidFill>
                <a:latin typeface="Aptos"/>
              </a:rPr>
              <a:t>1) A event</a:t>
            </a:r>
            <a:endParaRPr sz="1700" b="1">
              <a:solidFill>
                <a:srgbClr val="2462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" y="2121853"/>
            <a:ext cx="1819910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local-ready + ring-ready</a:t>
            </a:r>
            <a:endParaRPr sz="1000" b="0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353312" y="202996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" y="303580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700" b="1">
                <a:solidFill>
                  <a:srgbClr val="EB8D35"/>
                </a:solidFill>
                <a:latin typeface="Aptos"/>
              </a:rPr>
              <a:t>2) B event</a:t>
            </a:r>
            <a:endParaRPr sz="1700" b="1">
              <a:solidFill>
                <a:srgbClr val="EB8D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465" y="3298190"/>
            <a:ext cx="1188720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B </a:t>
            </a:r>
            <a:r>
              <a:rPr lang="en-US" sz="1000" b="0">
                <a:solidFill>
                  <a:srgbClr val="212731"/>
                </a:solidFill>
                <a:latin typeface="Aptos"/>
              </a:rPr>
              <a:t>local-</a:t>
            </a:r>
            <a:r>
              <a:rPr sz="1000" b="0">
                <a:solidFill>
                  <a:srgbClr val="212731"/>
                </a:solidFill>
                <a:latin typeface="Aptos"/>
              </a:rPr>
              <a:t>ready</a:t>
            </a:r>
            <a:endParaRPr sz="1000" b="0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353312" y="326440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" y="449884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700" b="1">
                <a:solidFill>
                  <a:srgbClr val="E14F4F"/>
                </a:solidFill>
                <a:latin typeface="Aptos"/>
              </a:rPr>
              <a:t>3) coarse compute</a:t>
            </a:r>
            <a:endParaRPr sz="1700" b="1">
              <a:solidFill>
                <a:srgbClr val="E14F4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465" y="495579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start / end</a:t>
            </a:r>
            <a:endParaRPr sz="1000" b="0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353312" y="472744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2260" y="1664335"/>
            <a:ext cx="742315" cy="3657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A event0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86505" y="1664335"/>
            <a:ext cx="75819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74485" y="1664335"/>
            <a:ext cx="750570" cy="3657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A even</a:t>
            </a:r>
            <a:r>
              <a:rPr lang="en-US" sz="1200" b="1">
                <a:solidFill>
                  <a:srgbClr val="212731"/>
                </a:solidFill>
                <a:latin typeface="Aptos"/>
              </a:rPr>
              <a:t>t1</a:t>
            </a:r>
            <a:endParaRPr lang="en-US"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3464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B0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1635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88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81635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k=0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892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88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104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9476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B1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7647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104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77647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k=1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4904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104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4904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120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16052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5488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B2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3659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120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3659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k=2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0916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120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0916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136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12064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71500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B3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9671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136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69671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k=3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6928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136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6928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152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67512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B4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5683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152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5683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k=4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2940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152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2940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168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704088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3524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B5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1695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168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61695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k=5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8952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168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8952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184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800100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59536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B6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57707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184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57707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k=6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4964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184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4964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200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96112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55548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B7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53719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200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53719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k=7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50976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200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50976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216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67" name="Connector 66"/>
          <p:cNvCxnSpPr/>
          <p:nvPr/>
        </p:nvCxnSpPr>
        <p:spPr>
          <a:xfrm>
            <a:off x="992124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14" idx="2"/>
            <a:endCxn id="20" idx="0"/>
          </p:cNvCxnSpPr>
          <p:nvPr/>
        </p:nvCxnSpPr>
        <p:spPr>
          <a:xfrm flipH="1">
            <a:off x="3209924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00227" y="5370703"/>
            <a:ext cx="10469880" cy="530352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731"/>
                </a:solidFill>
                <a:latin typeface="Aptos"/>
              </a:rPr>
              <a:t>coarse 粒度：A(32×2) × B(2×32) 对一个 32×32 output tile 的单个 K-slice 做累加。A/B event 只负责给出 ready；coarse_start 才是 compute 真正开始的时间。</a:t>
            </a:r>
            <a:endParaRPr sz="15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7</a:t>
            </a:r>
            <a:r>
              <a:rPr sz="900" b="0">
                <a:solidFill>
                  <a:srgbClr val="747B87"/>
                </a:solidFill>
                <a:latin typeface="Aptos"/>
              </a:rPr>
              <a:t> · A/B event ready 与 coarse compute 时间要分开看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cxnSp>
        <p:nvCxnSpPr>
          <p:cNvPr id="76" name="Connector 70"/>
          <p:cNvCxnSpPr>
            <a:stCxn id="15" idx="2"/>
            <a:endCxn id="26" idx="0"/>
          </p:cNvCxnSpPr>
          <p:nvPr/>
        </p:nvCxnSpPr>
        <p:spPr>
          <a:xfrm>
            <a:off x="4165599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20"/>
          <p:cNvSpPr txBox="1"/>
          <p:nvPr/>
        </p:nvSpPr>
        <p:spPr>
          <a:xfrm>
            <a:off x="270319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local ready 28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78" name="TextBox 20"/>
          <p:cNvSpPr txBox="1"/>
          <p:nvPr/>
        </p:nvSpPr>
        <p:spPr>
          <a:xfrm>
            <a:off x="654367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local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44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79" name="Rounded Rectangle 14"/>
          <p:cNvSpPr/>
          <p:nvPr/>
        </p:nvSpPr>
        <p:spPr>
          <a:xfrm>
            <a:off x="4754880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5714365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1" name="Rounded Rectangle 14"/>
          <p:cNvSpPr/>
          <p:nvPr/>
        </p:nvSpPr>
        <p:spPr>
          <a:xfrm>
            <a:off x="7635240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2" name="Rounded Rectangle 14"/>
          <p:cNvSpPr/>
          <p:nvPr/>
        </p:nvSpPr>
        <p:spPr>
          <a:xfrm>
            <a:off x="8594725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3" name="Rounded Rectangle 14"/>
          <p:cNvSpPr/>
          <p:nvPr/>
        </p:nvSpPr>
        <p:spPr>
          <a:xfrm>
            <a:off x="9555480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4" name="TextBox 20"/>
          <p:cNvSpPr txBox="1"/>
          <p:nvPr/>
        </p:nvSpPr>
        <p:spPr>
          <a:xfrm>
            <a:off x="363029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32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5" name="TextBox 20"/>
          <p:cNvSpPr txBox="1"/>
          <p:nvPr/>
        </p:nvSpPr>
        <p:spPr>
          <a:xfrm>
            <a:off x="462343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108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6" name="TextBox 20"/>
          <p:cNvSpPr txBox="1"/>
          <p:nvPr/>
        </p:nvSpPr>
        <p:spPr>
          <a:xfrm>
            <a:off x="558355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124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7" name="TextBox 20"/>
          <p:cNvSpPr txBox="1"/>
          <p:nvPr/>
        </p:nvSpPr>
        <p:spPr>
          <a:xfrm>
            <a:off x="749236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48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8" name="TextBox 20"/>
          <p:cNvSpPr txBox="1"/>
          <p:nvPr/>
        </p:nvSpPr>
        <p:spPr>
          <a:xfrm>
            <a:off x="848550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172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9" name="TextBox 20"/>
          <p:cNvSpPr txBox="1"/>
          <p:nvPr/>
        </p:nvSpPr>
        <p:spPr>
          <a:xfrm>
            <a:off x="944562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192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cxnSp>
        <p:nvCxnSpPr>
          <p:cNvPr id="90" name="Connector 70"/>
          <p:cNvCxnSpPr/>
          <p:nvPr/>
        </p:nvCxnSpPr>
        <p:spPr>
          <a:xfrm flipH="1">
            <a:off x="5125084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70"/>
          <p:cNvCxnSpPr/>
          <p:nvPr/>
        </p:nvCxnSpPr>
        <p:spPr>
          <a:xfrm>
            <a:off x="6080759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70"/>
          <p:cNvCxnSpPr/>
          <p:nvPr/>
        </p:nvCxnSpPr>
        <p:spPr>
          <a:xfrm flipH="1">
            <a:off x="7045959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70"/>
          <p:cNvCxnSpPr/>
          <p:nvPr/>
        </p:nvCxnSpPr>
        <p:spPr>
          <a:xfrm>
            <a:off x="8001634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70"/>
          <p:cNvCxnSpPr/>
          <p:nvPr/>
        </p:nvCxnSpPr>
        <p:spPr>
          <a:xfrm flipH="1">
            <a:off x="8961119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70"/>
          <p:cNvCxnSpPr/>
          <p:nvPr/>
        </p:nvCxnSpPr>
        <p:spPr>
          <a:xfrm>
            <a:off x="9916794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88"/>
          <p:cNvSpPr/>
          <p:nvPr/>
        </p:nvSpPr>
        <p:spPr>
          <a:xfrm>
            <a:off x="2927985" y="5989320"/>
            <a:ext cx="6836410" cy="456565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12731"/>
                </a:solidFill>
                <a:latin typeface="Aptos"/>
              </a:rPr>
              <a:t>final latency = max(compute_pipeline, ring, memory, AG)</a:t>
            </a:r>
            <a:endParaRPr sz="1500" b="1">
              <a:solidFill>
                <a:srgbClr val="21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最终瓶颈选择：谁最后结束，谁决定 latency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1828800" cy="10515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compute
256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880360" y="1417320"/>
            <a:ext cx="1828800" cy="1051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AG issue
256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3480" y="1417320"/>
            <a:ext cx="1965960" cy="1051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ring
</a:t>
            </a:r>
            <a:r>
              <a:rPr lang="en-US" sz="2400" b="1">
                <a:solidFill>
                  <a:srgbClr val="212731"/>
                </a:solidFill>
                <a:latin typeface="Aptos"/>
              </a:rPr>
              <a:t>48</a:t>
            </a:r>
            <a:endParaRPr lang="en-US"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69480" y="1417320"/>
            <a:ext cx="2240280" cy="10515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memory
1100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829800" y="1417320"/>
            <a:ext cx="1645920" cy="10515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latency
1100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57630" y="3716020"/>
            <a:ext cx="905256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12731"/>
                </a:solidFill>
                <a:latin typeface="Aptos"/>
              </a:rPr>
              <a:t>max(compute_pipeline, ring_timeline, memory_timeline, ag_issue)  →  最晚结束者决定 latency</a:t>
            </a:r>
            <a:endParaRPr sz="20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8</a:t>
            </a:r>
            <a:r>
              <a:rPr sz="900" b="0">
                <a:solidFill>
                  <a:srgbClr val="747B87"/>
                </a:solidFill>
                <a:latin typeface="Aptos"/>
              </a:rPr>
              <a:t> · final bound selection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6081</Words>
  <Application>WPS 演示</Application>
  <PresentationFormat>On-screen Show (4:3)</PresentationFormat>
  <Paragraphs>538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Aptos</vt:lpstr>
      <vt:lpstr>Segoe UI</vt:lpstr>
      <vt:lpstr>Consolas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余粥可温</cp:lastModifiedBy>
  <cp:revision>37</cp:revision>
  <dcterms:created xsi:type="dcterms:W3CDTF">2013-01-27T09:14:00Z</dcterms:created>
  <dcterms:modified xsi:type="dcterms:W3CDTF">2026-06-02T13:27:44Z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AE2AE93281494DBD83225ABBE52971A1_12</vt:lpwstr>
  </property>
</Properties>
</file>