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65" r:id="rId3"/>
    <p:sldId id="267" r:id="rId4"/>
    <p:sldId id="268" r:id="rId5"/>
    <p:sldId id="256" r:id="rId6"/>
    <p:sldId id="257" r:id="rId7"/>
    <p:sldId id="258" r:id="rId8"/>
    <p:sldId id="260" r:id="rId9"/>
    <p:sldId id="262" r:id="rId10"/>
    <p:sldId id="266" r:id="rId11"/>
    <p:sldId id="263" r:id="rId1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0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0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96723"/>
            <a:ext cx="10515600" cy="55753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2800" b="1">
                <a:solidFill>
                  <a:srgbClr val="212731"/>
                </a:solidFill>
                <a:latin typeface="Aptos"/>
              </a:rPr>
              <a:t>ring_gemm</a:t>
            </a:r>
            <a:r>
              <a:rPr lang="en-US" sz="2800" b="1">
                <a:solidFill>
                  <a:srgbClr val="212731"/>
                </a:solidFill>
                <a:latin typeface="Aptos"/>
              </a:rPr>
              <a:t>_M64N128K16_4slices</a:t>
            </a:r>
            <a:r>
              <a:rPr sz="2800" b="1">
                <a:solidFill>
                  <a:srgbClr val="212731"/>
                </a:solidFill>
                <a:latin typeface="Aptos"/>
              </a:rPr>
              <a:t> 单算子性能表</a:t>
            </a:r>
            <a:endParaRPr sz="2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86384" y="2639187"/>
            <a:ext cx="5760720" cy="384048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12731"/>
                </a:solidFill>
                <a:latin typeface="Aptos"/>
              </a:rPr>
              <a:t>metric</a:t>
            </a:r>
            <a:endParaRPr sz="1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47104" y="2639187"/>
            <a:ext cx="2240280" cy="384048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12731"/>
                </a:solidFill>
                <a:latin typeface="Aptos"/>
              </a:rPr>
              <a:t>value</a:t>
            </a:r>
            <a:endParaRPr sz="1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86384" y="3023235"/>
            <a:ext cx="576072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analytical</a:t>
            </a:r>
            <a:r>
              <a:rPr lang="en-US" sz="1300">
                <a:solidFill>
                  <a:srgbClr val="212731"/>
                </a:solidFill>
                <a:latin typeface="Aptos"/>
                <a:sym typeface="+mn-ea"/>
              </a:rPr>
              <a:t>_</a:t>
            </a:r>
            <a:r>
              <a:rPr sz="1300" b="0">
                <a:solidFill>
                  <a:srgbClr val="212731"/>
                </a:solidFill>
                <a:latin typeface="Aptos"/>
              </a:rPr>
              <a:t>latency_cycles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47104" y="3023235"/>
            <a:ext cx="224028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1100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86384" y="3407283"/>
            <a:ext cx="576072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hardware_measured_cycles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47104" y="3407283"/>
            <a:ext cx="224028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10</a:t>
            </a:r>
            <a:r>
              <a:rPr lang="en-US" sz="1300" b="0">
                <a:solidFill>
                  <a:srgbClr val="212731"/>
                </a:solidFill>
                <a:latin typeface="Aptos"/>
              </a:rPr>
              <a:t>84</a:t>
            </a:r>
            <a:endParaRPr lang="en-US"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86384" y="3791331"/>
            <a:ext cx="576072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simulator_error_vs_measured(%)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547104" y="3791331"/>
            <a:ext cx="224028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300" b="0">
                <a:solidFill>
                  <a:srgbClr val="212731"/>
                </a:solidFill>
                <a:latin typeface="Aptos"/>
              </a:rPr>
              <a:t>1.48</a:t>
            </a:r>
            <a:r>
              <a:rPr sz="1300" b="0">
                <a:solidFill>
                  <a:srgbClr val="212731"/>
                </a:solidFill>
                <a:latin typeface="Aptos"/>
              </a:rPr>
              <a:t>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86384" y="4175379"/>
            <a:ext cx="576072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C00000"/>
                </a:solidFill>
                <a:latin typeface="Aptos"/>
              </a:rPr>
              <a:t>roofline_compute_utilization(%)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547104" y="4175379"/>
            <a:ext cx="224028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</a:rPr>
              <a:t>100.00%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86384" y="4559427"/>
            <a:ext cx="576072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analytical_compute_utilization(%)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547104" y="4559427"/>
            <a:ext cx="224028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23.27%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86384" y="4943475"/>
            <a:ext cx="576072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measured_compute_utilization(%)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547104" y="4943475"/>
            <a:ext cx="224028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25.00%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86384" y="5327523"/>
            <a:ext cx="576072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C00000"/>
                </a:solidFill>
                <a:latin typeface="Aptos"/>
              </a:rPr>
              <a:t>roofline_bandwidth_utilization(%)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547104" y="5327523"/>
            <a:ext cx="224028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</a:rPr>
              <a:t>81.25%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86384" y="5711571"/>
            <a:ext cx="576072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analytical_bandwidth_utilization(%)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547104" y="5711571"/>
            <a:ext cx="224028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18.91%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86384" y="6095619"/>
            <a:ext cx="576072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measured_bandwidth_utilization(%)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547104" y="6095619"/>
            <a:ext cx="224028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20.31%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11064240" cy="18288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r"/>
            <a:r>
              <a:rPr sz="900" b="0">
                <a:solidFill>
                  <a:srgbClr val="747B87"/>
                </a:solidFill>
                <a:latin typeface="Aptos"/>
              </a:rPr>
              <a:t>Slide 1 · 单算子性能表</a:t>
            </a:r>
            <a:endParaRPr sz="900" b="0">
              <a:solidFill>
                <a:srgbClr val="747B87"/>
              </a:solidFill>
              <a:latin typeface="Aptos"/>
            </a:endParaRPr>
          </a:p>
        </p:txBody>
      </p:sp>
      <p:pic>
        <p:nvPicPr>
          <p:cNvPr id="30" name="图片 29"/>
          <p:cNvPicPr/>
          <p:nvPr/>
        </p:nvPicPr>
        <p:blipFill>
          <a:blip r:embed="rId1"/>
          <a:stretch>
            <a:fillRect/>
          </a:stretch>
        </p:blipFill>
        <p:spPr>
          <a:xfrm>
            <a:off x="4951095" y="778510"/>
            <a:ext cx="3466465" cy="1719580"/>
          </a:xfrm>
          <a:prstGeom prst="rect">
            <a:avLst/>
          </a:prstGeom>
        </p:spPr>
      </p:pic>
      <p:pic>
        <p:nvPicPr>
          <p:cNvPr id="32" name="图片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7425" y="822325"/>
            <a:ext cx="3578225" cy="1676400"/>
          </a:xfrm>
          <a:prstGeom prst="rect">
            <a:avLst/>
          </a:prstGeom>
        </p:spPr>
      </p:pic>
      <p:sp>
        <p:nvSpPr>
          <p:cNvPr id="3" name="Rounded Rectangle 5"/>
          <p:cNvSpPr/>
          <p:nvPr/>
        </p:nvSpPr>
        <p:spPr>
          <a:xfrm>
            <a:off x="8787384" y="2638552"/>
            <a:ext cx="2240280" cy="384048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12731"/>
                </a:solidFill>
                <a:latin typeface="Aptos"/>
              </a:rPr>
              <a:t>value</a:t>
            </a:r>
            <a:endParaRPr sz="1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4" name="Rounded Rectangle 7"/>
          <p:cNvSpPr/>
          <p:nvPr/>
        </p:nvSpPr>
        <p:spPr>
          <a:xfrm>
            <a:off x="8787384" y="3022600"/>
            <a:ext cx="224028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780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5" name="Rounded Rectangle 9"/>
          <p:cNvSpPr/>
          <p:nvPr/>
        </p:nvSpPr>
        <p:spPr>
          <a:xfrm>
            <a:off x="8787384" y="3406648"/>
            <a:ext cx="224028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819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6" name="Rounded Rectangle 11"/>
          <p:cNvSpPr/>
          <p:nvPr/>
        </p:nvSpPr>
        <p:spPr>
          <a:xfrm>
            <a:off x="8787384" y="3790696"/>
            <a:ext cx="224028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-4.76%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7" name="Rounded Rectangle 13"/>
          <p:cNvSpPr/>
          <p:nvPr/>
        </p:nvSpPr>
        <p:spPr>
          <a:xfrm>
            <a:off x="8787384" y="4174744"/>
            <a:ext cx="224028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</a:rPr>
              <a:t>100.00%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28" name="Rounded Rectangle 15"/>
          <p:cNvSpPr/>
          <p:nvPr/>
        </p:nvSpPr>
        <p:spPr>
          <a:xfrm>
            <a:off x="8787384" y="4558792"/>
            <a:ext cx="224028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32.82%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31" name="Rounded Rectangle 17"/>
          <p:cNvSpPr/>
          <p:nvPr/>
        </p:nvSpPr>
        <p:spPr>
          <a:xfrm>
            <a:off x="8787384" y="4942840"/>
            <a:ext cx="224028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31.26%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33" name="Rounded Rectangle 19"/>
          <p:cNvSpPr/>
          <p:nvPr/>
        </p:nvSpPr>
        <p:spPr>
          <a:xfrm>
            <a:off x="8787384" y="5326888"/>
            <a:ext cx="224028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</a:rPr>
              <a:t>81.25%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44" name="Rounded Rectangle 21"/>
          <p:cNvSpPr/>
          <p:nvPr/>
        </p:nvSpPr>
        <p:spPr>
          <a:xfrm>
            <a:off x="8787384" y="5710936"/>
            <a:ext cx="2240280" cy="384048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26.67%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45" name="Rounded Rectangle 23"/>
          <p:cNvSpPr/>
          <p:nvPr/>
        </p:nvSpPr>
        <p:spPr>
          <a:xfrm>
            <a:off x="8787384" y="6094984"/>
            <a:ext cx="2240280" cy="384048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25.40%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46" name="圆角矩形 45"/>
          <p:cNvSpPr/>
          <p:nvPr/>
        </p:nvSpPr>
        <p:spPr>
          <a:xfrm>
            <a:off x="9117965" y="6096000"/>
            <a:ext cx="1475105" cy="383540"/>
          </a:xfrm>
          <a:prstGeom prst="roundRect">
            <a:avLst/>
          </a:prstGeom>
          <a:ln>
            <a:solidFill>
              <a:srgbClr val="C00000"/>
            </a:solidFill>
            <a:prstDash val="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47" name="圆角矩形 46"/>
          <p:cNvSpPr/>
          <p:nvPr/>
        </p:nvSpPr>
        <p:spPr>
          <a:xfrm>
            <a:off x="9117965" y="4943475"/>
            <a:ext cx="1475105" cy="383540"/>
          </a:xfrm>
          <a:prstGeom prst="roundRect">
            <a:avLst/>
          </a:prstGeom>
          <a:ln>
            <a:solidFill>
              <a:srgbClr val="C00000"/>
            </a:solidFill>
            <a:prstDash val="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cxnSp>
        <p:nvCxnSpPr>
          <p:cNvPr id="48" name="直接箭头连接符 47"/>
          <p:cNvCxnSpPr>
            <a:stCxn id="46" idx="1"/>
          </p:cNvCxnSpPr>
          <p:nvPr/>
        </p:nvCxnSpPr>
        <p:spPr>
          <a:xfrm flipH="1" flipV="1">
            <a:off x="3249930" y="1827530"/>
            <a:ext cx="5868035" cy="4460240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3"/>
          <p:cNvSpPr/>
          <p:nvPr/>
        </p:nvSpPr>
        <p:spPr>
          <a:xfrm>
            <a:off x="1191260" y="1426210"/>
            <a:ext cx="2058670" cy="731520"/>
          </a:xfrm>
          <a:prstGeom prst="roundRect">
            <a:avLst/>
          </a:prstGeom>
          <a:solidFill>
            <a:srgbClr val="E8F7EF"/>
          </a:solidFill>
          <a:ln w="17145">
            <a:solidFill>
              <a:srgbClr val="379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700" b="1">
                <a:solidFill>
                  <a:srgbClr val="212731"/>
                </a:solidFill>
                <a:latin typeface="Aptos"/>
              </a:rPr>
              <a:t>k</a:t>
            </a:r>
            <a:r>
              <a:rPr lang="zh-CN" altLang="en-US" sz="1700" b="1">
                <a:solidFill>
                  <a:srgbClr val="212731"/>
                </a:solidFill>
                <a:latin typeface="Aptos"/>
              </a:rPr>
              <a:t>小，</a:t>
            </a:r>
            <a:r>
              <a:rPr lang="en-US" altLang="zh-CN" sz="1700" b="1">
                <a:solidFill>
                  <a:srgbClr val="212731"/>
                </a:solidFill>
                <a:latin typeface="Aptos"/>
              </a:rPr>
              <a:t>data reuse</a:t>
            </a:r>
            <a:r>
              <a:rPr lang="zh-CN" altLang="en-US" sz="1700" b="1">
                <a:solidFill>
                  <a:srgbClr val="212731"/>
                </a:solidFill>
                <a:latin typeface="Aptos"/>
              </a:rPr>
              <a:t>少，写回用时</a:t>
            </a:r>
            <a:r>
              <a:rPr lang="zh-CN" altLang="en-US" sz="1700" b="1">
                <a:solidFill>
                  <a:srgbClr val="212731"/>
                </a:solidFill>
                <a:latin typeface="Aptos"/>
              </a:rPr>
              <a:t>长</a:t>
            </a:r>
            <a:endParaRPr lang="zh-CN" altLang="en-US" sz="1700" b="1">
              <a:solidFill>
                <a:srgbClr val="21273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96723"/>
            <a:ext cx="10515600" cy="55753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2800" b="1">
                <a:solidFill>
                  <a:srgbClr val="212731"/>
                </a:solidFill>
                <a:latin typeface="Aptos"/>
              </a:rPr>
              <a:t>ring_gemm</a:t>
            </a:r>
            <a:r>
              <a:rPr lang="en-US" sz="2800" b="1">
                <a:solidFill>
                  <a:srgbClr val="212731"/>
                </a:solidFill>
                <a:latin typeface="Aptos"/>
              </a:rPr>
              <a:t>_4slices</a:t>
            </a:r>
            <a:r>
              <a:rPr sz="2800" b="1">
                <a:solidFill>
                  <a:srgbClr val="212731"/>
                </a:solidFill>
                <a:latin typeface="Aptos"/>
              </a:rPr>
              <a:t> </a:t>
            </a:r>
            <a:r>
              <a:rPr lang="zh-CN" sz="2800" b="1">
                <a:solidFill>
                  <a:srgbClr val="212731"/>
                </a:solidFill>
                <a:latin typeface="Aptos"/>
              </a:rPr>
              <a:t>不同</a:t>
            </a:r>
            <a:r>
              <a:rPr lang="en-US" altLang="zh-CN" sz="2800" b="1">
                <a:solidFill>
                  <a:srgbClr val="212731"/>
                </a:solidFill>
                <a:latin typeface="Aptos"/>
              </a:rPr>
              <a:t>size</a:t>
            </a:r>
            <a:r>
              <a:rPr sz="2800" b="1">
                <a:solidFill>
                  <a:srgbClr val="212731"/>
                </a:solidFill>
                <a:latin typeface="Aptos"/>
              </a:rPr>
              <a:t>性能表</a:t>
            </a:r>
            <a:endParaRPr sz="2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050290" y="2693670"/>
            <a:ext cx="3354705" cy="384175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12731"/>
                </a:solidFill>
                <a:latin typeface="Aptos"/>
              </a:rPr>
              <a:t>metric</a:t>
            </a:r>
            <a:endParaRPr sz="1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50290" y="3077845"/>
            <a:ext cx="335470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analytical</a:t>
            </a:r>
            <a:r>
              <a:rPr lang="en-US" sz="1300">
                <a:solidFill>
                  <a:srgbClr val="212731"/>
                </a:solidFill>
                <a:latin typeface="Aptos"/>
                <a:sym typeface="+mn-ea"/>
              </a:rPr>
              <a:t>_</a:t>
            </a:r>
            <a:r>
              <a:rPr sz="1300" b="0">
                <a:solidFill>
                  <a:srgbClr val="212731"/>
                </a:solidFill>
                <a:latin typeface="Aptos"/>
              </a:rPr>
              <a:t>latency_cycles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50290" y="3462020"/>
            <a:ext cx="335470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hardware_measured_cycles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50290" y="3846195"/>
            <a:ext cx="335470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simulator_error_vs_measured(%)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50290" y="4229735"/>
            <a:ext cx="335470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C00000"/>
                </a:solidFill>
                <a:latin typeface="Aptos"/>
              </a:rPr>
              <a:t>roofline_compute_utilization(%)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50290" y="4613910"/>
            <a:ext cx="335470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analytical_compute_utilization(%)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050290" y="4998085"/>
            <a:ext cx="335470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measured_compute_utilization(%)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050290" y="5382260"/>
            <a:ext cx="335470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C00000"/>
                </a:solidFill>
                <a:latin typeface="Aptos"/>
              </a:rPr>
              <a:t>roofline_bandwidth_utilization(%)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050290" y="5766435"/>
            <a:ext cx="335470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analytical_bandwidth_utilization(%)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050290" y="6149975"/>
            <a:ext cx="335470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measured_bandwidth_utilization(%)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11064240" cy="18288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r"/>
            <a:r>
              <a:rPr sz="900" b="0">
                <a:solidFill>
                  <a:srgbClr val="747B87"/>
                </a:solidFill>
                <a:latin typeface="Aptos"/>
              </a:rPr>
              <a:t>Slide 1 · 单算子性能表</a:t>
            </a:r>
            <a:endParaRPr sz="900" b="0">
              <a:solidFill>
                <a:srgbClr val="747B87"/>
              </a:solidFill>
              <a:latin typeface="Aptos"/>
            </a:endParaRPr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4875" y="285750"/>
            <a:ext cx="4611370" cy="2160270"/>
          </a:xfrm>
          <a:prstGeom prst="rect">
            <a:avLst/>
          </a:prstGeom>
        </p:spPr>
      </p:pic>
      <p:sp>
        <p:nvSpPr>
          <p:cNvPr id="3" name="Rounded Rectangle 5"/>
          <p:cNvSpPr/>
          <p:nvPr/>
        </p:nvSpPr>
        <p:spPr>
          <a:xfrm>
            <a:off x="4404995" y="2692400"/>
            <a:ext cx="1450975" cy="384175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400" b="1">
                <a:solidFill>
                  <a:srgbClr val="212731"/>
                </a:solidFill>
                <a:latin typeface="Aptos"/>
              </a:rPr>
              <a:t>M64N128</a:t>
            </a:r>
            <a:r>
              <a:rPr lang="en-US" sz="1400" b="1">
                <a:solidFill>
                  <a:srgbClr val="C00000"/>
                </a:solidFill>
                <a:latin typeface="Aptos"/>
              </a:rPr>
              <a:t>K16</a:t>
            </a:r>
            <a:endParaRPr lang="en-US" sz="14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4" name="Rounded Rectangle 7"/>
          <p:cNvSpPr/>
          <p:nvPr/>
        </p:nvSpPr>
        <p:spPr>
          <a:xfrm>
            <a:off x="4404995" y="3076575"/>
            <a:ext cx="145097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780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5" name="Rounded Rectangle 9"/>
          <p:cNvSpPr/>
          <p:nvPr/>
        </p:nvSpPr>
        <p:spPr>
          <a:xfrm>
            <a:off x="4404995" y="3460750"/>
            <a:ext cx="145097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819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6" name="Rounded Rectangle 11"/>
          <p:cNvSpPr/>
          <p:nvPr/>
        </p:nvSpPr>
        <p:spPr>
          <a:xfrm>
            <a:off x="4404995" y="3844925"/>
            <a:ext cx="145097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-4.76%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7" name="Rounded Rectangle 13"/>
          <p:cNvSpPr/>
          <p:nvPr/>
        </p:nvSpPr>
        <p:spPr>
          <a:xfrm>
            <a:off x="4404995" y="4228465"/>
            <a:ext cx="145097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</a:rPr>
              <a:t>100.00%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28" name="Rounded Rectangle 15"/>
          <p:cNvSpPr/>
          <p:nvPr/>
        </p:nvSpPr>
        <p:spPr>
          <a:xfrm>
            <a:off x="4404995" y="4612640"/>
            <a:ext cx="145097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32.82%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31" name="Rounded Rectangle 17"/>
          <p:cNvSpPr/>
          <p:nvPr/>
        </p:nvSpPr>
        <p:spPr>
          <a:xfrm>
            <a:off x="4404995" y="4996815"/>
            <a:ext cx="145097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31.26%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33" name="Rounded Rectangle 19"/>
          <p:cNvSpPr/>
          <p:nvPr/>
        </p:nvSpPr>
        <p:spPr>
          <a:xfrm>
            <a:off x="4404995" y="5380990"/>
            <a:ext cx="145097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</a:rPr>
              <a:t>81.25%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44" name="Rounded Rectangle 21"/>
          <p:cNvSpPr/>
          <p:nvPr/>
        </p:nvSpPr>
        <p:spPr>
          <a:xfrm>
            <a:off x="4404995" y="5765165"/>
            <a:ext cx="145097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26.67%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45" name="Rounded Rectangle 23"/>
          <p:cNvSpPr/>
          <p:nvPr/>
        </p:nvSpPr>
        <p:spPr>
          <a:xfrm>
            <a:off x="4404995" y="6148705"/>
            <a:ext cx="145097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731"/>
                </a:solidFill>
                <a:latin typeface="Aptos"/>
              </a:rPr>
              <a:t>25.40%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48" name="Rounded Rectangle 5"/>
          <p:cNvSpPr/>
          <p:nvPr/>
        </p:nvSpPr>
        <p:spPr>
          <a:xfrm>
            <a:off x="5855970" y="2692400"/>
            <a:ext cx="1657350" cy="384175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400" b="1">
                <a:solidFill>
                  <a:srgbClr val="212731"/>
                </a:solidFill>
                <a:latin typeface="Aptos"/>
                <a:sym typeface="+mn-ea"/>
              </a:rPr>
              <a:t>M32N128</a:t>
            </a:r>
            <a:r>
              <a:rPr lang="en-US" sz="1400" b="1">
                <a:solidFill>
                  <a:srgbClr val="C00000"/>
                </a:solidFill>
                <a:latin typeface="Aptos"/>
                <a:sym typeface="+mn-ea"/>
              </a:rPr>
              <a:t>K1024</a:t>
            </a:r>
            <a:endParaRPr lang="en-US" sz="1400" b="1">
              <a:solidFill>
                <a:srgbClr val="C00000"/>
              </a:solidFill>
              <a:latin typeface="Aptos"/>
              <a:sym typeface="+mn-ea"/>
            </a:endParaRPr>
          </a:p>
        </p:txBody>
      </p:sp>
      <p:sp>
        <p:nvSpPr>
          <p:cNvPr id="49" name="Rounded Rectangle 7"/>
          <p:cNvSpPr/>
          <p:nvPr/>
        </p:nvSpPr>
        <p:spPr>
          <a:xfrm>
            <a:off x="5855970" y="3076575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10296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0" name="Rounded Rectangle 9"/>
          <p:cNvSpPr/>
          <p:nvPr/>
        </p:nvSpPr>
        <p:spPr>
          <a:xfrm>
            <a:off x="5855970" y="3460750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300" b="0">
                <a:solidFill>
                  <a:srgbClr val="212731"/>
                </a:solidFill>
                <a:latin typeface="Aptos"/>
              </a:rPr>
              <a:t>10291</a:t>
            </a:r>
            <a:endParaRPr lang="en-US"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1" name="Rounded Rectangle 11"/>
          <p:cNvSpPr/>
          <p:nvPr/>
        </p:nvSpPr>
        <p:spPr>
          <a:xfrm>
            <a:off x="5855970" y="3844925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0.05%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2" name="Rounded Rectangle 13"/>
          <p:cNvSpPr/>
          <p:nvPr/>
        </p:nvSpPr>
        <p:spPr>
          <a:xfrm>
            <a:off x="5855970" y="4228465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  <a:sym typeface="+mn-ea"/>
              </a:rPr>
              <a:t>100.00%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53" name="Rounded Rectangle 15"/>
          <p:cNvSpPr/>
          <p:nvPr/>
        </p:nvSpPr>
        <p:spPr>
          <a:xfrm>
            <a:off x="5855970" y="4612640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79.56%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4" name="Rounded Rectangle 17"/>
          <p:cNvSpPr/>
          <p:nvPr/>
        </p:nvSpPr>
        <p:spPr>
          <a:xfrm>
            <a:off x="5855970" y="4996815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79.60%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5" name="Rounded Rectangle 19"/>
          <p:cNvSpPr/>
          <p:nvPr/>
        </p:nvSpPr>
        <p:spPr>
          <a:xfrm>
            <a:off x="5855970" y="5380990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  <a:sym typeface="+mn-ea"/>
              </a:rPr>
              <a:t>32.03%</a:t>
            </a:r>
            <a:endParaRPr sz="1300" b="1">
              <a:solidFill>
                <a:srgbClr val="C00000"/>
              </a:solidFill>
              <a:latin typeface="Aptos"/>
              <a:sym typeface="+mn-ea"/>
            </a:endParaRPr>
          </a:p>
        </p:txBody>
      </p:sp>
      <p:sp>
        <p:nvSpPr>
          <p:cNvPr id="56" name="Rounded Rectangle 21"/>
          <p:cNvSpPr/>
          <p:nvPr/>
        </p:nvSpPr>
        <p:spPr>
          <a:xfrm>
            <a:off x="5855970" y="5765165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25.49%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7" name="Rounded Rectangle 23"/>
          <p:cNvSpPr/>
          <p:nvPr/>
        </p:nvSpPr>
        <p:spPr>
          <a:xfrm>
            <a:off x="5855970" y="6148705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25.50%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69" name="Rounded Rectangle 13"/>
          <p:cNvSpPr/>
          <p:nvPr/>
        </p:nvSpPr>
        <p:spPr>
          <a:xfrm>
            <a:off x="88265" y="1064260"/>
            <a:ext cx="7116445" cy="1018540"/>
          </a:xfrm>
          <a:prstGeom prst="roundRect">
            <a:avLst/>
          </a:prstGeom>
          <a:solidFill>
            <a:srgbClr val="E8F7EF"/>
          </a:solidFill>
          <a:ln w="17145">
            <a:solidFill>
              <a:srgbClr val="379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en-US" altLang="zh-CN" sz="1700" b="1">
                <a:solidFill>
                  <a:srgbClr val="C00000"/>
                </a:solidFill>
                <a:latin typeface="Consolas" panose="020B0609020204030204" charset="0"/>
                <a:cs typeface="Consolas" panose="020B0609020204030204" charset="0"/>
              </a:rPr>
              <a:t>roofline_bandwidth_utilization</a:t>
            </a:r>
            <a:endParaRPr lang="en-US" altLang="zh-CN" sz="1700" b="1">
              <a:solidFill>
                <a:srgbClr val="21273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 sz="1700" b="1">
                <a:solidFill>
                  <a:srgbClr val="212731"/>
                </a:solidFill>
                <a:latin typeface="Consolas" panose="020B0609020204030204" charset="0"/>
                <a:cs typeface="Consolas" panose="020B0609020204030204" charset="0"/>
              </a:rPr>
              <a:t>= roofline_limit / (peak_bandwidth * arithmetic_intensity)</a:t>
            </a:r>
            <a:endParaRPr lang="en-US" altLang="zh-CN" sz="1700" b="1">
              <a:solidFill>
                <a:srgbClr val="21273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 sz="1700" b="1">
                <a:solidFill>
                  <a:srgbClr val="212731"/>
                </a:solidFill>
                <a:latin typeface="Consolas" panose="020B0609020204030204" charset="0"/>
                <a:cs typeface="Consolas" panose="020B0609020204030204" charset="0"/>
              </a:rPr>
              <a:t>roofline_limit= min(peak_compute, peak_bandwidth * AI)</a:t>
            </a:r>
            <a:endParaRPr lang="en-US" altLang="zh-CN" sz="1700" b="1">
              <a:solidFill>
                <a:srgbClr val="21273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46" name="圆角矩形 45"/>
          <p:cNvSpPr/>
          <p:nvPr/>
        </p:nvSpPr>
        <p:spPr>
          <a:xfrm>
            <a:off x="4380865" y="6150610"/>
            <a:ext cx="1475105" cy="383540"/>
          </a:xfrm>
          <a:prstGeom prst="roundRect">
            <a:avLst/>
          </a:prstGeom>
          <a:ln>
            <a:solidFill>
              <a:srgbClr val="C00000"/>
            </a:solidFill>
            <a:prstDash val="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47" name="圆角矩形 46"/>
          <p:cNvSpPr/>
          <p:nvPr/>
        </p:nvSpPr>
        <p:spPr>
          <a:xfrm>
            <a:off x="4380865" y="4998085"/>
            <a:ext cx="1475105" cy="383540"/>
          </a:xfrm>
          <a:prstGeom prst="roundRect">
            <a:avLst/>
          </a:prstGeom>
          <a:ln>
            <a:solidFill>
              <a:srgbClr val="C00000"/>
            </a:solidFill>
            <a:prstDash val="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5947410" y="4996815"/>
            <a:ext cx="1475105" cy="383540"/>
          </a:xfrm>
          <a:prstGeom prst="roundRect">
            <a:avLst/>
          </a:prstGeom>
          <a:ln>
            <a:solidFill>
              <a:srgbClr val="C00000"/>
            </a:solidFill>
            <a:prstDash val="dash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8" name="Rounded Rectangle 13"/>
          <p:cNvSpPr/>
          <p:nvPr/>
        </p:nvSpPr>
        <p:spPr>
          <a:xfrm>
            <a:off x="7751445" y="4468495"/>
            <a:ext cx="4321810" cy="1215390"/>
          </a:xfrm>
          <a:prstGeom prst="roundRect">
            <a:avLst/>
          </a:prstGeom>
          <a:solidFill>
            <a:srgbClr val="E8F7EF"/>
          </a:solidFill>
          <a:ln w="17145">
            <a:solidFill>
              <a:srgbClr val="379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en-US" altLang="zh-CN" sz="1600" b="1">
                <a:solidFill>
                  <a:srgbClr val="212731"/>
                </a:solidFill>
                <a:latin typeface="Consolas" panose="020B0609020204030204" charset="0"/>
                <a:cs typeface="Consolas" panose="020B0609020204030204" charset="0"/>
              </a:rPr>
              <a:t>- B-side row-switch bubbles: </a:t>
            </a:r>
            <a:endParaRPr lang="en-US" altLang="zh-CN" sz="1600" b="1">
              <a:solidFill>
                <a:srgbClr val="21273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indent="457200" algn="l"/>
            <a:r>
              <a:rPr lang="en-US" altLang="zh-CN" sz="1600" b="1">
                <a:solidFill>
                  <a:srgbClr val="212731"/>
                </a:solidFill>
                <a:latin typeface="Consolas" panose="020B0609020204030204" charset="0"/>
                <a:cs typeface="Consolas" panose="020B0609020204030204" charset="0"/>
              </a:rPr>
              <a:t>1792 cycles (17.4%)</a:t>
            </a:r>
            <a:endParaRPr lang="en-US" altLang="zh-CN" sz="1600" b="1">
              <a:solidFill>
                <a:srgbClr val="21273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 sz="1600" b="1">
                <a:solidFill>
                  <a:srgbClr val="212731"/>
                </a:solidFill>
                <a:latin typeface="Consolas" panose="020B0609020204030204" charset="0"/>
                <a:cs typeface="Consolas" panose="020B0609020204030204" charset="0"/>
              </a:rPr>
              <a:t>- tail psum + writeback drain: 	</a:t>
            </a:r>
            <a:endParaRPr lang="en-US" altLang="zh-CN" sz="1600" b="1">
              <a:solidFill>
                <a:srgbClr val="21273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indent="457200" algn="l"/>
            <a:r>
              <a:rPr lang="en-US" altLang="zh-CN" sz="1600" b="1">
                <a:solidFill>
                  <a:srgbClr val="212731"/>
                </a:solidFill>
                <a:latin typeface="Consolas" panose="020B0609020204030204" charset="0"/>
                <a:cs typeface="Consolas" panose="020B0609020204030204" charset="0"/>
              </a:rPr>
              <a:t>312 cycles (3.0%)</a:t>
            </a:r>
            <a:endParaRPr lang="en-US" altLang="zh-CN" sz="1600" b="1">
              <a:solidFill>
                <a:srgbClr val="21273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96723"/>
            <a:ext cx="10515600" cy="55753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2800" b="1">
                <a:solidFill>
                  <a:srgbClr val="212731"/>
                </a:solidFill>
                <a:latin typeface="Aptos"/>
              </a:rPr>
              <a:t>ring_gemm</a:t>
            </a:r>
            <a:r>
              <a:rPr lang="en-US" sz="2800" b="1">
                <a:solidFill>
                  <a:srgbClr val="212731"/>
                </a:solidFill>
                <a:latin typeface="Aptos"/>
              </a:rPr>
              <a:t>_4slices</a:t>
            </a:r>
            <a:r>
              <a:rPr sz="2800" b="1">
                <a:solidFill>
                  <a:srgbClr val="212731"/>
                </a:solidFill>
                <a:latin typeface="Aptos"/>
              </a:rPr>
              <a:t> </a:t>
            </a:r>
            <a:r>
              <a:rPr lang="zh-CN" sz="2800" b="1">
                <a:solidFill>
                  <a:srgbClr val="212731"/>
                </a:solidFill>
                <a:latin typeface="Aptos"/>
              </a:rPr>
              <a:t>不同</a:t>
            </a:r>
            <a:r>
              <a:rPr lang="zh-CN" altLang="en-US" sz="2800" b="1">
                <a:solidFill>
                  <a:srgbClr val="212731"/>
                </a:solidFill>
                <a:latin typeface="Aptos"/>
              </a:rPr>
              <a:t>配置</a:t>
            </a:r>
            <a:r>
              <a:rPr sz="2800" b="1">
                <a:solidFill>
                  <a:srgbClr val="212731"/>
                </a:solidFill>
                <a:latin typeface="Aptos"/>
              </a:rPr>
              <a:t>性能表</a:t>
            </a:r>
            <a:endParaRPr sz="2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145540" y="2414905"/>
            <a:ext cx="3354705" cy="384175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12731"/>
                </a:solidFill>
                <a:latin typeface="Aptos"/>
              </a:rPr>
              <a:t>metric</a:t>
            </a:r>
            <a:endParaRPr sz="1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145540" y="3184525"/>
            <a:ext cx="335470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analytical</a:t>
            </a:r>
            <a:r>
              <a:rPr lang="en-US" sz="1300">
                <a:solidFill>
                  <a:srgbClr val="212731"/>
                </a:solidFill>
                <a:latin typeface="Aptos"/>
                <a:sym typeface="+mn-ea"/>
              </a:rPr>
              <a:t>_</a:t>
            </a:r>
            <a:r>
              <a:rPr sz="1300" b="0">
                <a:solidFill>
                  <a:srgbClr val="212731"/>
                </a:solidFill>
                <a:latin typeface="Aptos"/>
              </a:rPr>
              <a:t>latency_cycles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145540" y="3568700"/>
            <a:ext cx="335470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hardware_measured_cycles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145540" y="3952875"/>
            <a:ext cx="335470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simulator_error_vs_measured(%)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145540" y="4336415"/>
            <a:ext cx="335470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C00000"/>
                </a:solidFill>
                <a:latin typeface="Aptos"/>
              </a:rPr>
              <a:t>roofline_compute_utilization(%)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145540" y="4720590"/>
            <a:ext cx="335470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analytical_compute_utilization(%)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145540" y="5104765"/>
            <a:ext cx="335470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measured_compute_utilization(%)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145540" y="5488940"/>
            <a:ext cx="335470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C00000"/>
                </a:solidFill>
                <a:latin typeface="Aptos"/>
              </a:rPr>
              <a:t>roofline_bandwidth_utilization(%)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145540" y="5873115"/>
            <a:ext cx="3354705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analytical_bandwidth_utilization(%)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145540" y="6256655"/>
            <a:ext cx="335470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731"/>
                </a:solidFill>
                <a:latin typeface="Aptos"/>
              </a:rPr>
              <a:t>measured_bandwidth_utilization(%)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11064240" cy="18288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r"/>
            <a:r>
              <a:rPr sz="900" b="0">
                <a:solidFill>
                  <a:srgbClr val="747B87"/>
                </a:solidFill>
                <a:latin typeface="Aptos"/>
              </a:rPr>
              <a:t>Slide 1 · 单算子性能表</a:t>
            </a:r>
            <a:endParaRPr sz="900" b="0">
              <a:solidFill>
                <a:srgbClr val="747B87"/>
              </a:solidFill>
              <a:latin typeface="Aptos"/>
            </a:endParaRPr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3855" y="844550"/>
            <a:ext cx="3157855" cy="1479550"/>
          </a:xfrm>
          <a:prstGeom prst="rect">
            <a:avLst/>
          </a:prstGeom>
        </p:spPr>
      </p:pic>
      <p:sp>
        <p:nvSpPr>
          <p:cNvPr id="48" name="Rounded Rectangle 5"/>
          <p:cNvSpPr/>
          <p:nvPr/>
        </p:nvSpPr>
        <p:spPr>
          <a:xfrm>
            <a:off x="4500245" y="2413000"/>
            <a:ext cx="1657350" cy="384175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400" b="1">
                <a:solidFill>
                  <a:srgbClr val="212731"/>
                </a:solidFill>
                <a:latin typeface="Aptos"/>
                <a:sym typeface="+mn-ea"/>
              </a:rPr>
              <a:t>M32N128</a:t>
            </a:r>
            <a:r>
              <a:rPr lang="en-US" sz="1400" b="1">
                <a:solidFill>
                  <a:srgbClr val="C00000"/>
                </a:solidFill>
                <a:latin typeface="Aptos"/>
                <a:sym typeface="+mn-ea"/>
              </a:rPr>
              <a:t>K1024</a:t>
            </a:r>
            <a:endParaRPr lang="en-US" sz="1400" b="1">
              <a:solidFill>
                <a:srgbClr val="C00000"/>
              </a:solidFill>
              <a:latin typeface="Aptos"/>
              <a:sym typeface="+mn-ea"/>
            </a:endParaRPr>
          </a:p>
        </p:txBody>
      </p:sp>
      <p:sp>
        <p:nvSpPr>
          <p:cNvPr id="49" name="Rounded Rectangle 7"/>
          <p:cNvSpPr/>
          <p:nvPr/>
        </p:nvSpPr>
        <p:spPr>
          <a:xfrm>
            <a:off x="4500245" y="3182620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10296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0" name="Rounded Rectangle 9"/>
          <p:cNvSpPr/>
          <p:nvPr/>
        </p:nvSpPr>
        <p:spPr>
          <a:xfrm>
            <a:off x="4500245" y="3566795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300" b="0">
                <a:solidFill>
                  <a:srgbClr val="212731"/>
                </a:solidFill>
                <a:latin typeface="Aptos"/>
              </a:rPr>
              <a:t>10291</a:t>
            </a:r>
            <a:endParaRPr lang="en-US"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1" name="Rounded Rectangle 11"/>
          <p:cNvSpPr/>
          <p:nvPr/>
        </p:nvSpPr>
        <p:spPr>
          <a:xfrm>
            <a:off x="4500245" y="3950970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0.05%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2" name="Rounded Rectangle 13"/>
          <p:cNvSpPr/>
          <p:nvPr/>
        </p:nvSpPr>
        <p:spPr>
          <a:xfrm>
            <a:off x="4500245" y="4334510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  <a:sym typeface="+mn-ea"/>
              </a:rPr>
              <a:t>100.00%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53" name="Rounded Rectangle 15"/>
          <p:cNvSpPr/>
          <p:nvPr/>
        </p:nvSpPr>
        <p:spPr>
          <a:xfrm>
            <a:off x="4500245" y="4718685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79.56%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4" name="Rounded Rectangle 17"/>
          <p:cNvSpPr/>
          <p:nvPr/>
        </p:nvSpPr>
        <p:spPr>
          <a:xfrm>
            <a:off x="4500245" y="5102860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79.60%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5" name="Rounded Rectangle 19"/>
          <p:cNvSpPr/>
          <p:nvPr/>
        </p:nvSpPr>
        <p:spPr>
          <a:xfrm>
            <a:off x="4500245" y="5487035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  <a:sym typeface="+mn-ea"/>
              </a:rPr>
              <a:t>32.03%</a:t>
            </a:r>
            <a:endParaRPr sz="1300" b="1">
              <a:solidFill>
                <a:srgbClr val="C00000"/>
              </a:solidFill>
              <a:latin typeface="Aptos"/>
              <a:sym typeface="+mn-ea"/>
            </a:endParaRPr>
          </a:p>
        </p:txBody>
      </p:sp>
      <p:sp>
        <p:nvSpPr>
          <p:cNvPr id="56" name="Rounded Rectangle 21"/>
          <p:cNvSpPr/>
          <p:nvPr/>
        </p:nvSpPr>
        <p:spPr>
          <a:xfrm>
            <a:off x="4500245" y="5871210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25.49%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57" name="Rounded Rectangle 23"/>
          <p:cNvSpPr/>
          <p:nvPr/>
        </p:nvSpPr>
        <p:spPr>
          <a:xfrm>
            <a:off x="4500245" y="6254750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212731"/>
                </a:solidFill>
                <a:latin typeface="Aptos"/>
                <a:sym typeface="+mn-ea"/>
              </a:rPr>
              <a:t>25.50%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945" y="844550"/>
            <a:ext cx="3201035" cy="1499870"/>
          </a:xfrm>
          <a:prstGeom prst="rect">
            <a:avLst/>
          </a:prstGeom>
        </p:spPr>
      </p:pic>
      <p:sp>
        <p:nvSpPr>
          <p:cNvPr id="12" name="Rounded Rectangle 5"/>
          <p:cNvSpPr/>
          <p:nvPr/>
        </p:nvSpPr>
        <p:spPr>
          <a:xfrm>
            <a:off x="6157595" y="2412365"/>
            <a:ext cx="1657350" cy="384175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400" b="1">
                <a:solidFill>
                  <a:srgbClr val="212731"/>
                </a:solidFill>
                <a:latin typeface="Aptos"/>
                <a:sym typeface="+mn-ea"/>
              </a:rPr>
              <a:t>M32N128</a:t>
            </a:r>
            <a:r>
              <a:rPr lang="en-US" sz="1400" b="1">
                <a:solidFill>
                  <a:srgbClr val="C00000"/>
                </a:solidFill>
                <a:latin typeface="Aptos"/>
                <a:sym typeface="+mn-ea"/>
              </a:rPr>
              <a:t>K1024</a:t>
            </a:r>
            <a:endParaRPr lang="en-US" sz="1400" b="1">
              <a:solidFill>
                <a:srgbClr val="C00000"/>
              </a:solidFill>
              <a:latin typeface="Aptos"/>
              <a:sym typeface="+mn-ea"/>
            </a:endParaRPr>
          </a:p>
        </p:txBody>
      </p:sp>
      <p:sp>
        <p:nvSpPr>
          <p:cNvPr id="14" name="Rounded Rectangle 7"/>
          <p:cNvSpPr/>
          <p:nvPr/>
        </p:nvSpPr>
        <p:spPr>
          <a:xfrm>
            <a:off x="6157595" y="3181985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6" name="Rounded Rectangle 9"/>
          <p:cNvSpPr/>
          <p:nvPr/>
        </p:nvSpPr>
        <p:spPr>
          <a:xfrm>
            <a:off x="6157595" y="3566160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300" b="0">
                <a:solidFill>
                  <a:srgbClr val="212731"/>
                </a:solidFill>
                <a:latin typeface="Aptos"/>
              </a:rPr>
              <a:t>9005</a:t>
            </a:r>
            <a:endParaRPr lang="en-US"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8" name="Rounded Rectangle 11"/>
          <p:cNvSpPr/>
          <p:nvPr/>
        </p:nvSpPr>
        <p:spPr>
          <a:xfrm>
            <a:off x="6157595" y="3950335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0" name="Rounded Rectangle 13"/>
          <p:cNvSpPr/>
          <p:nvPr/>
        </p:nvSpPr>
        <p:spPr>
          <a:xfrm>
            <a:off x="6157595" y="4333875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  <a:sym typeface="+mn-ea"/>
              </a:rPr>
              <a:t>100.00%</a:t>
            </a:r>
            <a:endParaRPr sz="1300" b="1">
              <a:solidFill>
                <a:srgbClr val="C00000"/>
              </a:solidFill>
              <a:latin typeface="Aptos"/>
            </a:endParaRPr>
          </a:p>
        </p:txBody>
      </p:sp>
      <p:sp>
        <p:nvSpPr>
          <p:cNvPr id="22" name="Rounded Rectangle 15"/>
          <p:cNvSpPr/>
          <p:nvPr/>
        </p:nvSpPr>
        <p:spPr>
          <a:xfrm>
            <a:off x="6157595" y="4718050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4" name="Rounded Rectangle 17"/>
          <p:cNvSpPr/>
          <p:nvPr/>
        </p:nvSpPr>
        <p:spPr>
          <a:xfrm>
            <a:off x="6157595" y="5102225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altLang="zh-CN" sz="1300" b="0">
                <a:solidFill>
                  <a:srgbClr val="212731"/>
                </a:solidFill>
                <a:latin typeface="Aptos"/>
              </a:rPr>
              <a:t>90.97%</a:t>
            </a:r>
            <a:endParaRPr lang="en-US" altLang="zh-CN"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30" name="Rounded Rectangle 19"/>
          <p:cNvSpPr/>
          <p:nvPr/>
        </p:nvSpPr>
        <p:spPr>
          <a:xfrm>
            <a:off x="6157595" y="5486400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C00000"/>
                </a:solidFill>
                <a:latin typeface="Aptos"/>
                <a:sym typeface="+mn-ea"/>
              </a:rPr>
              <a:t>32.03%</a:t>
            </a:r>
            <a:endParaRPr sz="1300" b="1">
              <a:solidFill>
                <a:srgbClr val="C00000"/>
              </a:solidFill>
              <a:latin typeface="Aptos"/>
              <a:sym typeface="+mn-ea"/>
            </a:endParaRPr>
          </a:p>
        </p:txBody>
      </p:sp>
      <p:sp>
        <p:nvSpPr>
          <p:cNvPr id="34" name="Rounded Rectangle 21"/>
          <p:cNvSpPr/>
          <p:nvPr/>
        </p:nvSpPr>
        <p:spPr>
          <a:xfrm>
            <a:off x="6157595" y="5870575"/>
            <a:ext cx="1657350" cy="38417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sz="1300" b="0">
              <a:solidFill>
                <a:srgbClr val="212731"/>
              </a:solidFill>
              <a:latin typeface="Aptos"/>
              <a:sym typeface="+mn-ea"/>
            </a:endParaRPr>
          </a:p>
        </p:txBody>
      </p:sp>
      <p:sp>
        <p:nvSpPr>
          <p:cNvPr id="35" name="Rounded Rectangle 23"/>
          <p:cNvSpPr/>
          <p:nvPr/>
        </p:nvSpPr>
        <p:spPr>
          <a:xfrm>
            <a:off x="6157595" y="6254115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altLang="zh-CN" sz="1300" b="0">
                <a:solidFill>
                  <a:srgbClr val="212731"/>
                </a:solidFill>
                <a:latin typeface="Aptos"/>
              </a:rPr>
              <a:t>29.14%</a:t>
            </a:r>
            <a:endParaRPr lang="en-US" altLang="zh-CN"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5" name="Rounded Rectangle 6"/>
          <p:cNvSpPr/>
          <p:nvPr/>
        </p:nvSpPr>
        <p:spPr>
          <a:xfrm>
            <a:off x="1145540" y="2799715"/>
            <a:ext cx="3354705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en-US" sz="1300">
                <a:solidFill>
                  <a:srgbClr val="212731"/>
                </a:solidFill>
                <a:latin typeface="Aptos"/>
                <a:sym typeface="+mn-ea"/>
              </a:rPr>
              <a:t>roofline_</a:t>
            </a:r>
            <a:r>
              <a:rPr sz="1300" b="0">
                <a:solidFill>
                  <a:srgbClr val="212731"/>
                </a:solidFill>
                <a:latin typeface="Aptos"/>
              </a:rPr>
              <a:t>latency_cycles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26" name="Rounded Rectangle 7"/>
          <p:cNvSpPr/>
          <p:nvPr/>
        </p:nvSpPr>
        <p:spPr>
          <a:xfrm>
            <a:off x="4500245" y="2797810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300">
                <a:solidFill>
                  <a:srgbClr val="212731"/>
                </a:solidFill>
                <a:latin typeface="Aptos"/>
                <a:sym typeface="+mn-ea"/>
              </a:rPr>
              <a:t>8192</a:t>
            </a:r>
            <a:endParaRPr lang="en-US" sz="1300" b="0">
              <a:solidFill>
                <a:srgbClr val="212731"/>
              </a:solidFill>
              <a:latin typeface="Aptos"/>
              <a:sym typeface="+mn-ea"/>
            </a:endParaRPr>
          </a:p>
        </p:txBody>
      </p:sp>
      <p:sp>
        <p:nvSpPr>
          <p:cNvPr id="27" name="Rounded Rectangle 7"/>
          <p:cNvSpPr/>
          <p:nvPr/>
        </p:nvSpPr>
        <p:spPr>
          <a:xfrm>
            <a:off x="6157595" y="2797175"/>
            <a:ext cx="1657350" cy="3841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300">
                <a:solidFill>
                  <a:srgbClr val="212731"/>
                </a:solidFill>
                <a:latin typeface="Aptos"/>
                <a:sym typeface="+mn-ea"/>
              </a:rPr>
              <a:t>8192</a:t>
            </a:r>
            <a:endParaRPr sz="1300" b="0">
              <a:solidFill>
                <a:srgbClr val="21273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2800" b="1">
                <a:solidFill>
                  <a:srgbClr val="212731"/>
                </a:solidFill>
                <a:latin typeface="Aptos"/>
              </a:rPr>
              <a:t>ring_gemm 性能分析方法图</a:t>
            </a:r>
            <a:endParaRPr sz="2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1100" b="0">
                <a:solidFill>
                  <a:srgbClr val="747B87"/>
                </a:solidFill>
                <a:latin typeface="Aptos"/>
              </a:rPr>
              <a:t>loop nest → template tile → load event → microtile timeline → final bounds</a:t>
            </a:r>
            <a:endParaRPr sz="1100" b="0">
              <a:solidFill>
                <a:srgbClr val="747B87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94055" y="1134110"/>
            <a:ext cx="3281045" cy="114300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212731"/>
                </a:solidFill>
                <a:latin typeface="Aptos"/>
              </a:rPr>
              <a:t>ring_gemm_bias.json
Global: M=64, N=128, K=16
Local: A=64×4, B=16×32, Out=64×32</a:t>
            </a:r>
            <a:endParaRPr sz="16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249420" y="1134110"/>
            <a:ext cx="2011680" cy="1143000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800" b="1">
                <a:solidFill>
                  <a:srgbClr val="212731"/>
                </a:solidFill>
                <a:latin typeface="Aptos"/>
              </a:rPr>
              <a:t>event</a:t>
            </a:r>
            <a:r>
              <a:rPr sz="1800" b="1">
                <a:solidFill>
                  <a:srgbClr val="212731"/>
                </a:solidFill>
                <a:latin typeface="Aptos"/>
              </a:rPr>
              <a:t>规模
A events = 4
B events = 16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35420" y="1134110"/>
            <a:ext cx="2194560" cy="1143000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关键瓶颈
memory = 1100
ring = 612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004300" y="1134110"/>
            <a:ext cx="2286000" cy="1143000"/>
          </a:xfrm>
          <a:prstGeom prst="roundRect">
            <a:avLst/>
          </a:prstGeom>
          <a:solidFill>
            <a:srgbClr val="E8F7EF"/>
          </a:solidFill>
          <a:ln w="17145">
            <a:solidFill>
              <a:srgbClr val="379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最终延迟
latency = 1100</a:t>
            </a:r>
            <a:endParaRPr sz="1800" b="1">
              <a:solidFill>
                <a:srgbClr val="212731"/>
              </a:solidFill>
              <a:latin typeface="Aptos"/>
            </a:endParaRPr>
          </a:p>
          <a:p>
            <a:pPr algn="ctr"/>
            <a:r>
              <a:rPr lang="zh-CN" sz="1800" b="1">
                <a:solidFill>
                  <a:srgbClr val="212731"/>
                </a:solidFill>
                <a:latin typeface="Aptos"/>
              </a:rPr>
              <a:t>测量值</a:t>
            </a:r>
            <a:endParaRPr lang="zh-CN" sz="1800" b="1">
              <a:solidFill>
                <a:srgbClr val="212731"/>
              </a:solidFill>
              <a:latin typeface="Aptos"/>
            </a:endParaRPr>
          </a:p>
          <a:p>
            <a:pPr algn="ctr"/>
            <a:r>
              <a:rPr lang="en-US" altLang="zh-CN" sz="1800" b="1">
                <a:solidFill>
                  <a:srgbClr val="212731"/>
                </a:solidFill>
                <a:latin typeface="Aptos"/>
              </a:rPr>
              <a:t>latency = 1024</a:t>
            </a:r>
            <a:endParaRPr lang="en-US" altLang="zh-CN"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0607040" cy="269748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4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33855" y="3127693"/>
            <a:ext cx="10149840" cy="372745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lang="zh-CN" sz="1600" b="1">
                <a:solidFill>
                  <a:srgbClr val="212731"/>
                </a:solidFill>
                <a:latin typeface="Aptos"/>
              </a:rPr>
              <a:t>根据</a:t>
            </a:r>
            <a:r>
              <a:rPr lang="en-US" altLang="zh-CN" sz="1600" b="1">
                <a:solidFill>
                  <a:srgbClr val="212731"/>
                </a:solidFill>
                <a:latin typeface="Aptos"/>
              </a:rPr>
              <a:t> loop nest </a:t>
            </a:r>
            <a:r>
              <a:rPr sz="1600" b="1">
                <a:solidFill>
                  <a:srgbClr val="212731"/>
                </a:solidFill>
                <a:latin typeface="Aptos"/>
              </a:rPr>
              <a:t>生成</a:t>
            </a:r>
            <a:r>
              <a:rPr lang="en-US" sz="1600" b="1">
                <a:solidFill>
                  <a:srgbClr val="212731"/>
                </a:solidFill>
                <a:latin typeface="Aptos"/>
              </a:rPr>
              <a:t>events</a:t>
            </a:r>
            <a:r>
              <a:rPr sz="1600" b="1">
                <a:solidFill>
                  <a:srgbClr val="212731"/>
                </a:solidFill>
                <a:latin typeface="Aptos"/>
              </a:rPr>
              <a:t>，再让 A/B/ring/PE/psum/writeback 在时间线上相互约束。</a:t>
            </a:r>
            <a:endParaRPr sz="16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236980" y="4023360"/>
            <a:ext cx="1325880" cy="73152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212731"/>
                </a:solidFill>
                <a:latin typeface="Aptos"/>
              </a:rPr>
              <a:t>loop nest</a:t>
            </a:r>
            <a:endParaRPr sz="17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837180" y="4023360"/>
            <a:ext cx="1600200" cy="73152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212731"/>
                </a:solidFill>
                <a:latin typeface="Aptos"/>
              </a:rPr>
              <a:t>template tiles</a:t>
            </a:r>
            <a:endParaRPr sz="17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757420" y="4023360"/>
            <a:ext cx="1600200" cy="731520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212731"/>
                </a:solidFill>
                <a:latin typeface="Aptos"/>
              </a:rPr>
              <a:t>load events</a:t>
            </a:r>
            <a:endParaRPr sz="17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723380" y="4023360"/>
            <a:ext cx="1828800" cy="731520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212731"/>
                </a:solidFill>
                <a:latin typeface="Aptos"/>
              </a:rPr>
              <a:t>microtile timeline</a:t>
            </a:r>
            <a:endParaRPr sz="17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963660" y="4023360"/>
            <a:ext cx="1691640" cy="731520"/>
          </a:xfrm>
          <a:prstGeom prst="roundRect">
            <a:avLst/>
          </a:prstGeom>
          <a:solidFill>
            <a:srgbClr val="E8F7EF"/>
          </a:solidFill>
          <a:ln w="17145">
            <a:solidFill>
              <a:srgbClr val="379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212731"/>
                </a:solidFill>
                <a:latin typeface="Aptos"/>
              </a:rPr>
              <a:t>final bounds</a:t>
            </a:r>
            <a:endParaRPr sz="1700" b="1">
              <a:solidFill>
                <a:srgbClr val="212731"/>
              </a:solidFill>
              <a:latin typeface="Aptos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2562860" y="4389120"/>
            <a:ext cx="27432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437380" y="4389120"/>
            <a:ext cx="32004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357620" y="4389120"/>
            <a:ext cx="36576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597900" y="4389120"/>
            <a:ext cx="36576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6405245"/>
            <a:ext cx="11064240" cy="26543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r"/>
            <a:r>
              <a:rPr sz="900" b="0">
                <a:solidFill>
                  <a:srgbClr val="747B87"/>
                </a:solidFill>
                <a:latin typeface="Aptos"/>
              </a:rPr>
              <a:t>Slide </a:t>
            </a:r>
            <a:r>
              <a:rPr lang="en-US" sz="900" b="0">
                <a:solidFill>
                  <a:srgbClr val="747B87"/>
                </a:solidFill>
                <a:latin typeface="Aptos"/>
              </a:rPr>
              <a:t>2</a:t>
            </a:r>
            <a:r>
              <a:rPr sz="900" b="0">
                <a:solidFill>
                  <a:srgbClr val="747B87"/>
                </a:solidFill>
                <a:latin typeface="Aptos"/>
              </a:rPr>
              <a:t> · 总览</a:t>
            </a:r>
            <a:endParaRPr sz="900" b="0">
              <a:solidFill>
                <a:srgbClr val="747B87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5445" y="36830"/>
            <a:ext cx="11688445" cy="97917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pPr algn="l"/>
            <a:r>
              <a:rPr sz="2400" b="1">
                <a:solidFill>
                  <a:srgbClr val="212731"/>
                </a:solidFill>
                <a:latin typeface="Aptos"/>
              </a:rPr>
              <a:t>Loop Nest 抽象模型：</a:t>
            </a:r>
            <a:r>
              <a:rPr lang="zh-CN" sz="2400" b="1">
                <a:solidFill>
                  <a:srgbClr val="212731"/>
                </a:solidFill>
                <a:latin typeface="Aptos"/>
              </a:rPr>
              <a:t>不同于通用算子，专用算子中的</a:t>
            </a:r>
            <a:r>
              <a:rPr lang="en-US" altLang="zh-CN" sz="2400" b="1">
                <a:solidFill>
                  <a:srgbClr val="212731"/>
                </a:solidFill>
                <a:latin typeface="Aptos"/>
              </a:rPr>
              <a:t>tensor tile</a:t>
            </a:r>
            <a:r>
              <a:rPr lang="zh-CN" altLang="en-US" sz="2400" b="1">
                <a:solidFill>
                  <a:srgbClr val="212731"/>
                </a:solidFill>
                <a:latin typeface="Aptos"/>
              </a:rPr>
              <a:t>会重复访问</a:t>
            </a:r>
            <a:endParaRPr lang="zh-CN" altLang="en-US" sz="2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205105" y="3340100"/>
            <a:ext cx="4120515" cy="324548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4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7970" y="3742373"/>
            <a:ext cx="5376545" cy="2342515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b="0">
                <a:solidFill>
                  <a:srgbClr val="212731"/>
                </a:solidFill>
                <a:latin typeface="Consolas" panose="020B0609020204030204"/>
              </a:rPr>
              <a:t>for M_0 in range(2)
  for N_0 in range(1)
    for K</a:t>
            </a:r>
            <a:r>
              <a:rPr lang="en-US" b="0">
                <a:solidFill>
                  <a:srgbClr val="212731"/>
                </a:solidFill>
                <a:latin typeface="Consolas" panose="020B0609020204030204"/>
              </a:rPr>
              <a:t>A</a:t>
            </a:r>
            <a:r>
              <a:rPr b="0">
                <a:solidFill>
                  <a:srgbClr val="212731"/>
                </a:solidFill>
                <a:latin typeface="Consolas" panose="020B0609020204030204"/>
              </a:rPr>
              <a:t>_0 in range(2)
      ag0(...)      # A loads
    for K</a:t>
            </a:r>
            <a:r>
              <a:rPr lang="en-US" b="0">
                <a:solidFill>
                  <a:srgbClr val="212731"/>
                </a:solidFill>
                <a:latin typeface="Consolas" panose="020B0609020204030204"/>
              </a:rPr>
              <a:t>B</a:t>
            </a:r>
            <a:r>
              <a:rPr b="0">
                <a:solidFill>
                  <a:srgbClr val="212731"/>
                </a:solidFill>
                <a:latin typeface="Consolas" panose="020B0609020204030204"/>
              </a:rPr>
              <a:t>_0 in range(</a:t>
            </a:r>
            <a:r>
              <a:rPr lang="en-US" b="0">
                <a:solidFill>
                  <a:srgbClr val="212731"/>
                </a:solidFill>
                <a:latin typeface="Consolas" panose="020B0609020204030204"/>
              </a:rPr>
              <a:t>8</a:t>
            </a:r>
            <a:r>
              <a:rPr b="0">
                <a:solidFill>
                  <a:srgbClr val="212731"/>
                </a:solidFill>
                <a:latin typeface="Consolas" panose="020B0609020204030204"/>
              </a:rPr>
              <a:t>)
      ag1(...)
      ag2(...)      # B loads
    ag4(...)        # writeback</a:t>
            </a:r>
            <a:endParaRPr b="0">
              <a:solidFill>
                <a:srgbClr val="212731"/>
              </a:solidFill>
              <a:latin typeface="Consolas" panose="020B060902020403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642485" y="1325880"/>
            <a:ext cx="2423160" cy="118872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A load scope
(M_0, N_0, KM_0)
2 × 1 × 2 = 4 events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642485" y="2880360"/>
            <a:ext cx="2423160" cy="1188720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B load scope
(M_0, N_0, k_tile)
2 × 1 × 8 = 16 events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642485" y="4434840"/>
            <a:ext cx="2423160" cy="1188720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writeback scope
output tile complete
2 write groups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229475" y="1280160"/>
            <a:ext cx="4799330" cy="452628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400" b="1">
                <a:solidFill>
                  <a:srgbClr val="212731"/>
                </a:solidFill>
                <a:latin typeface="Aptos"/>
              </a:rPr>
              <a:t>抽象语义</a:t>
            </a:r>
            <a:r>
              <a:rPr b="0">
                <a:solidFill>
                  <a:srgbClr val="212731"/>
                </a:solidFill>
                <a:latin typeface="Aptos"/>
              </a:rPr>
              <a:t>
• A 的</a:t>
            </a:r>
            <a:r>
              <a:rPr lang="en-US" b="0">
                <a:solidFill>
                  <a:srgbClr val="212731"/>
                </a:solidFill>
                <a:latin typeface="Aptos"/>
              </a:rPr>
              <a:t>event</a:t>
            </a:r>
            <a:r>
              <a:rPr b="0">
                <a:solidFill>
                  <a:srgbClr val="212731"/>
                </a:solidFill>
                <a:latin typeface="Aptos"/>
              </a:rPr>
              <a:t>重复由 (M_0, N_0, KM_0) 决定
• B 的</a:t>
            </a:r>
            <a:r>
              <a:rPr lang="en-US" b="0">
                <a:solidFill>
                  <a:srgbClr val="212731"/>
                </a:solidFill>
                <a:latin typeface="Aptos"/>
              </a:rPr>
              <a:t>event</a:t>
            </a:r>
            <a:r>
              <a:rPr b="0">
                <a:solidFill>
                  <a:srgbClr val="212731"/>
                </a:solidFill>
                <a:latin typeface="Aptos"/>
              </a:rPr>
              <a:t>重复由 (M_0, N_0, KN_0 / k_tile) 决定</a:t>
            </a:r>
            <a:endParaRPr b="0">
              <a:solidFill>
                <a:srgbClr val="212731"/>
              </a:solidFill>
              <a:latin typeface="Aptos"/>
            </a:endParaRPr>
          </a:p>
          <a:p>
            <a:pPr algn="l"/>
            <a:endParaRPr b="0">
              <a:solidFill>
                <a:srgbClr val="212731"/>
              </a:solidFill>
              <a:latin typeface="Aptos"/>
            </a:endParaRPr>
          </a:p>
          <a:p>
            <a:pPr algn="l"/>
            <a:r>
              <a:rPr b="0">
                <a:solidFill>
                  <a:srgbClr val="212731"/>
                </a:solidFill>
                <a:latin typeface="Aptos"/>
              </a:rPr>
              <a:t>
• </a:t>
            </a:r>
            <a:r>
              <a:rPr b="1">
                <a:solidFill>
                  <a:srgbClr val="212731"/>
                </a:solidFill>
                <a:latin typeface="Aptos"/>
              </a:rPr>
              <a:t>这个 loop tree </a:t>
            </a:r>
            <a:r>
              <a:rPr lang="zh-CN" b="1">
                <a:solidFill>
                  <a:srgbClr val="212731"/>
                </a:solidFill>
                <a:latin typeface="Aptos"/>
              </a:rPr>
              <a:t>导致请求个数不是由</a:t>
            </a:r>
            <a:r>
              <a:rPr lang="en-US" altLang="zh-CN" b="1">
                <a:solidFill>
                  <a:srgbClr val="212731"/>
                </a:solidFill>
                <a:latin typeface="Aptos"/>
              </a:rPr>
              <a:t>tensor footprint</a:t>
            </a:r>
            <a:r>
              <a:rPr lang="zh-CN" altLang="en-US" b="1">
                <a:solidFill>
                  <a:srgbClr val="212731"/>
                </a:solidFill>
                <a:latin typeface="Aptos"/>
              </a:rPr>
              <a:t>本身决定，而是会</a:t>
            </a:r>
            <a:r>
              <a:rPr b="1">
                <a:solidFill>
                  <a:srgbClr val="212731"/>
                </a:solidFill>
                <a:latin typeface="Aptos"/>
              </a:rPr>
              <a:t> request multiplicity</a:t>
            </a:r>
            <a:r>
              <a:rPr b="0">
                <a:solidFill>
                  <a:srgbClr val="212731"/>
                </a:solidFill>
                <a:latin typeface="Aptos"/>
              </a:rPr>
              <a:t> </a:t>
            </a:r>
            <a:endParaRPr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405245"/>
            <a:ext cx="11064240" cy="26543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r"/>
            <a:r>
              <a:rPr sz="900" b="0">
                <a:solidFill>
                  <a:srgbClr val="747B87"/>
                </a:solidFill>
                <a:latin typeface="Aptos"/>
              </a:rPr>
              <a:t>Slide </a:t>
            </a:r>
            <a:r>
              <a:rPr lang="en-US" sz="900" b="0">
                <a:solidFill>
                  <a:srgbClr val="747B87"/>
                </a:solidFill>
                <a:latin typeface="Aptos"/>
              </a:rPr>
              <a:t>3</a:t>
            </a:r>
            <a:r>
              <a:rPr sz="900" b="0">
                <a:solidFill>
                  <a:srgbClr val="747B87"/>
                </a:solidFill>
                <a:latin typeface="Aptos"/>
              </a:rPr>
              <a:t> · loop scope 决定 event multiplicity</a:t>
            </a:r>
            <a:endParaRPr sz="900" b="0">
              <a:solidFill>
                <a:srgbClr val="747B87"/>
              </a:solidFill>
              <a:latin typeface="Aptos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355" y="410210"/>
            <a:ext cx="3696335" cy="29298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2800" b="1">
                <a:solidFill>
                  <a:srgbClr val="212731"/>
                </a:solidFill>
                <a:latin typeface="Aptos"/>
              </a:rPr>
              <a:t>Template Tile → Load Event：几何唯一块如何变成真实事件</a:t>
            </a:r>
            <a:endParaRPr sz="2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2743200" cy="100584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footprint requests
A=32  B=64  W=256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566160" y="1097280"/>
            <a:ext cx="2194560" cy="1005840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_split_requests_exact()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80760" y="1097280"/>
            <a:ext cx="2651760" cy="100584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template tiles
A=4, B=8, Out=2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9098280" y="1097280"/>
            <a:ext cx="2194560" cy="1005840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212731"/>
                </a:solidFill>
                <a:latin typeface="Aptos"/>
              </a:rPr>
              <a:t>_expand_ring_gemm_load_events()</a:t>
            </a:r>
            <a:endParaRPr sz="16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01660" y="2468880"/>
            <a:ext cx="2560320" cy="1097280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load events
A=4
B=16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3246120" y="1600200"/>
            <a:ext cx="32004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1600200"/>
            <a:ext cx="32004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32520" y="1600200"/>
            <a:ext cx="36576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1520" y="2743200"/>
            <a:ext cx="2926080" cy="256032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>
                <a:solidFill>
                  <a:srgbClr val="212731"/>
                </a:solidFill>
                <a:latin typeface="Aptos"/>
              </a:rPr>
              <a:t>A template tiles
T0=(M[0:32],K[0:2])
T1=(M[0:32],K[2:4])
T2=(M[32:64],K[0:2])
T3=(M[32:64],K[2:4])</a:t>
            </a:r>
            <a:endParaRPr sz="18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977639" y="2743200"/>
            <a:ext cx="3108960" cy="256032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>
                <a:solidFill>
                  <a:srgbClr val="212731"/>
                </a:solidFill>
                <a:latin typeface="Aptos"/>
              </a:rPr>
              <a:t>B template tiles
8 unique K-slices over N[0:32]
each tile = 2×32 = 128B = 8 req
几何上只有 8 个 unique B tiles</a:t>
            </a:r>
            <a:endParaRPr sz="18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607300" y="3790315"/>
            <a:ext cx="3749040" cy="2821305"/>
          </a:xfrm>
          <a:prstGeom prst="roundRect">
            <a:avLst/>
          </a:prstGeom>
          <a:solidFill>
            <a:srgbClr val="E8F7EF"/>
          </a:solidFill>
          <a:ln w="17145">
            <a:solidFill>
              <a:srgbClr val="379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>
                <a:solidFill>
                  <a:srgbClr val="212731"/>
                </a:solidFill>
                <a:latin typeface="Aptos"/>
              </a:rPr>
              <a:t>event semantics
A: 4 template tiles → 4 load events
B: 8 template tiles → 16 load events
因此：
b_requests=64 只是 footprint
expanded_b_requests=128 才是执行真实请求流</a:t>
            </a:r>
            <a:endParaRPr sz="18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6588125"/>
            <a:ext cx="11064240" cy="26543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r"/>
            <a:r>
              <a:rPr sz="900" b="0">
                <a:solidFill>
                  <a:srgbClr val="747B87"/>
                </a:solidFill>
                <a:latin typeface="Aptos"/>
              </a:rPr>
              <a:t>Slide </a:t>
            </a:r>
            <a:r>
              <a:rPr lang="en-US" sz="900" b="0">
                <a:solidFill>
                  <a:srgbClr val="747B87"/>
                </a:solidFill>
                <a:latin typeface="Aptos"/>
              </a:rPr>
              <a:t>4</a:t>
            </a:r>
            <a:r>
              <a:rPr sz="900" b="0">
                <a:solidFill>
                  <a:srgbClr val="747B87"/>
                </a:solidFill>
                <a:latin typeface="Aptos"/>
              </a:rPr>
              <a:t> · template tile 与 load event 是两个层次</a:t>
            </a:r>
            <a:endParaRPr sz="900" b="0">
              <a:solidFill>
                <a:srgbClr val="747B87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2800" b="1">
                <a:solidFill>
                  <a:srgbClr val="212731"/>
                </a:solidFill>
                <a:latin typeface="Aptos"/>
              </a:rPr>
              <a:t>资源约束图：ping/pong、ring-ready、PE、psum 如何共同决定 coarse_start</a:t>
            </a:r>
            <a:endParaRPr sz="2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1920240" cy="86868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A ping / pong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2423160"/>
            <a:ext cx="1920240" cy="868680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B ping / pong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3611880"/>
            <a:ext cx="1920240" cy="868680"/>
          </a:xfrm>
          <a:prstGeom prst="roundRect">
            <a:avLst/>
          </a:prstGeom>
          <a:solidFill>
            <a:srgbClr val="EFE9FA"/>
          </a:solidFill>
          <a:ln w="17145">
            <a:solidFill>
              <a:srgbClr val="7F6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psum ping / pong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154680" y="1234440"/>
            <a:ext cx="2011680" cy="86868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A local ready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154680" y="2423160"/>
            <a:ext cx="2011680" cy="86868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B ready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154680" y="3611880"/>
            <a:ext cx="2011680" cy="86868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PE available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23560" y="1234440"/>
            <a:ext cx="2103120" cy="86868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ring_ready
= A ready + hop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623560" y="3611880"/>
            <a:ext cx="2103120" cy="868680"/>
          </a:xfrm>
          <a:prstGeom prst="roundRect">
            <a:avLst/>
          </a:prstGeom>
          <a:solidFill>
            <a:srgbClr val="EFE9FA"/>
          </a:solidFill>
          <a:ln w="17145">
            <a:solidFill>
              <a:srgbClr val="7F6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psum slot ready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183879" y="2331720"/>
            <a:ext cx="2148840" cy="1051560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212731"/>
                </a:solidFill>
                <a:latin typeface="Aptos"/>
              </a:rPr>
              <a:t>coarse_start
= max(PE, ring, B, psum)</a:t>
            </a:r>
            <a:endParaRPr sz="20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561320" y="2331720"/>
            <a:ext cx="1229360" cy="1051560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212731"/>
                </a:solidFill>
                <a:latin typeface="Aptos"/>
              </a:rPr>
              <a:t>PE
compute</a:t>
            </a:r>
            <a:endParaRPr sz="1700" b="1">
              <a:solidFill>
                <a:srgbClr val="212731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2560320" y="1664208"/>
            <a:ext cx="59436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560320" y="2852928"/>
            <a:ext cx="59436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60320" y="4041648"/>
            <a:ext cx="59436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66360" y="1664208"/>
            <a:ext cx="45720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66360" y="2852928"/>
            <a:ext cx="3017519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166360" y="2852928"/>
            <a:ext cx="3017519" cy="118872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26679" y="1664208"/>
            <a:ext cx="457200" cy="118872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726679" y="2852928"/>
            <a:ext cx="457200" cy="118872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32720" y="2852928"/>
            <a:ext cx="22860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4983480"/>
            <a:ext cx="10332720" cy="59436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700" b="1">
                <a:solidFill>
                  <a:srgbClr val="212731"/>
                </a:solidFill>
                <a:latin typeface="Aptos"/>
              </a:rPr>
              <a:t>当前实现里：A slot 要等最后一个 ring-hop 消费完才释放；B slot 在当前 coarse compute 后即可释放。</a:t>
            </a:r>
            <a:endParaRPr sz="17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6405245"/>
            <a:ext cx="11064240" cy="26543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r"/>
            <a:r>
              <a:rPr sz="900" b="0">
                <a:solidFill>
                  <a:srgbClr val="747B87"/>
                </a:solidFill>
                <a:latin typeface="Aptos"/>
              </a:rPr>
              <a:t>Slide </a:t>
            </a:r>
            <a:r>
              <a:rPr lang="en-US" sz="900" b="0">
                <a:solidFill>
                  <a:srgbClr val="747B87"/>
                </a:solidFill>
                <a:latin typeface="Aptos"/>
              </a:rPr>
              <a:t>5</a:t>
            </a:r>
            <a:r>
              <a:rPr sz="900" b="0">
                <a:solidFill>
                  <a:srgbClr val="747B87"/>
                </a:solidFill>
                <a:latin typeface="Aptos"/>
              </a:rPr>
              <a:t> · coarse_start 由多资源依赖共同决定</a:t>
            </a:r>
            <a:endParaRPr sz="900" b="0">
              <a:solidFill>
                <a:srgbClr val="747B87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2800" b="1">
                <a:solidFill>
                  <a:srgbClr val="212731"/>
                </a:solidFill>
                <a:latin typeface="Aptos"/>
              </a:rPr>
              <a:t>bank-level 简化模型：事件如何进入 memory timeline</a:t>
            </a:r>
            <a:endParaRPr sz="2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995160" y="4526280"/>
            <a:ext cx="4572000" cy="233172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>
                <a:solidFill>
                  <a:srgbClr val="212731"/>
                </a:solidFill>
                <a:latin typeface="Aptos"/>
              </a:rPr>
              <a:t>当前已准确表达
• request 按 release_cycle 注入
• bank 内 row / phase 状态
• write buffer occupancy + forced drain
• group ready = full-group completion
• A/B/writeback event completion 反馈到上层 timeline</a:t>
            </a:r>
            <a:endParaRPr sz="18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673215" y="2129790"/>
            <a:ext cx="5257800" cy="2331720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>
                <a:solidFill>
                  <a:srgbClr val="212731"/>
                </a:solidFill>
                <a:latin typeface="Aptos"/>
              </a:rPr>
              <a:t>当前仍然简化
• ring_gemm 没完全复用 ordinary operator 的 controller / arbiter 语义
• bank 侧是 lighter event loop，不是显式 arbiter1 / arbiter2 竞赛
• 但它已经足够提供 A/B ready、writeback completion 和 memory_timeline 的关键路径</a:t>
            </a:r>
            <a:endParaRPr sz="1800" b="0">
              <a:solidFill>
                <a:srgbClr val="212731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6405245"/>
            <a:ext cx="11064240" cy="26543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r"/>
            <a:r>
              <a:rPr sz="900" b="0">
                <a:solidFill>
                  <a:srgbClr val="747B87"/>
                </a:solidFill>
                <a:latin typeface="Aptos"/>
              </a:rPr>
              <a:t>Slide </a:t>
            </a:r>
            <a:r>
              <a:rPr lang="en-US" sz="900" b="0">
                <a:solidFill>
                  <a:srgbClr val="747B87"/>
                </a:solidFill>
                <a:latin typeface="Aptos"/>
              </a:rPr>
              <a:t>6</a:t>
            </a:r>
            <a:r>
              <a:rPr sz="900" b="0">
                <a:solidFill>
                  <a:srgbClr val="747B87"/>
                </a:solidFill>
                <a:latin typeface="Aptos"/>
              </a:rPr>
              <a:t> · 当前 memory model 的准确性与边界</a:t>
            </a:r>
            <a:endParaRPr sz="900" b="0">
              <a:solidFill>
                <a:srgbClr val="747B87"/>
              </a:solidFill>
              <a:latin typeface="Aptos"/>
            </a:endParaRPr>
          </a:p>
        </p:txBody>
      </p:sp>
      <p:sp>
        <p:nvSpPr>
          <p:cNvPr id="15" name="Rounded Rectangle 2"/>
          <p:cNvSpPr/>
          <p:nvPr/>
        </p:nvSpPr>
        <p:spPr>
          <a:xfrm>
            <a:off x="949960" y="1153160"/>
            <a:ext cx="1874519" cy="82296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12731"/>
                </a:solidFill>
                <a:latin typeface="Aptos"/>
              </a:rPr>
              <a:t>A/B load event group
(one event = many requests)</a:t>
            </a:r>
            <a:endParaRPr sz="1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6" name="Rounded Rectangle 3"/>
          <p:cNvSpPr/>
          <p:nvPr/>
        </p:nvSpPr>
        <p:spPr>
          <a:xfrm>
            <a:off x="3053080" y="1153160"/>
            <a:ext cx="1874519" cy="822960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future_reads /
future_writes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5156200" y="1153160"/>
            <a:ext cx="1874519" cy="822960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ready queues
by bank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8" name="Rounded Rectangle 5"/>
          <p:cNvSpPr/>
          <p:nvPr/>
        </p:nvSpPr>
        <p:spPr>
          <a:xfrm>
            <a:off x="7259320" y="1153160"/>
            <a:ext cx="1874519" cy="822960"/>
          </a:xfrm>
          <a:prstGeom prst="roundRect">
            <a:avLst/>
          </a:prstGeom>
          <a:solidFill>
            <a:srgbClr val="EFE9FA"/>
          </a:solidFill>
          <a:ln w="17145">
            <a:solidFill>
              <a:srgbClr val="7F6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12731"/>
                </a:solidFill>
                <a:latin typeface="Aptos"/>
              </a:rPr>
              <a:t>per-bank service
(row / phase / drain)</a:t>
            </a:r>
            <a:endParaRPr sz="1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9" name="Rounded Rectangle 6"/>
          <p:cNvSpPr/>
          <p:nvPr/>
        </p:nvSpPr>
        <p:spPr>
          <a:xfrm>
            <a:off x="9362440" y="1153160"/>
            <a:ext cx="1874519" cy="822960"/>
          </a:xfrm>
          <a:prstGeom prst="roundRect">
            <a:avLst/>
          </a:prstGeom>
          <a:solidFill>
            <a:srgbClr val="E8F7EF"/>
          </a:solidFill>
          <a:ln w="17145">
            <a:solidFill>
              <a:srgbClr val="379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group ready
(full-group completion)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cxnSp>
        <p:nvCxnSpPr>
          <p:cNvPr id="20" name="Connector 7"/>
          <p:cNvCxnSpPr/>
          <p:nvPr/>
        </p:nvCxnSpPr>
        <p:spPr>
          <a:xfrm>
            <a:off x="2824480" y="1564640"/>
            <a:ext cx="22860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8"/>
          <p:cNvCxnSpPr/>
          <p:nvPr/>
        </p:nvCxnSpPr>
        <p:spPr>
          <a:xfrm>
            <a:off x="4927600" y="1564640"/>
            <a:ext cx="22860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9"/>
          <p:cNvCxnSpPr/>
          <p:nvPr/>
        </p:nvCxnSpPr>
        <p:spPr>
          <a:xfrm>
            <a:off x="7030720" y="1564640"/>
            <a:ext cx="22860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10"/>
          <p:cNvCxnSpPr/>
          <p:nvPr/>
        </p:nvCxnSpPr>
        <p:spPr>
          <a:xfrm>
            <a:off x="9133840" y="1564640"/>
            <a:ext cx="228600" cy="0"/>
          </a:xfrm>
          <a:prstGeom prst="line">
            <a:avLst/>
          </a:prstGeom>
          <a:ln w="254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11"/>
          <p:cNvSpPr/>
          <p:nvPr/>
        </p:nvSpPr>
        <p:spPr>
          <a:xfrm>
            <a:off x="544195" y="2868295"/>
            <a:ext cx="2103120" cy="132588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212731"/>
                </a:solidFill>
                <a:latin typeface="Aptos"/>
              </a:rPr>
              <a:t>A event 0
8 requests
release = 0
ready = 28</a:t>
            </a:r>
            <a:endParaRPr sz="17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25" name="Rounded Rectangle 12"/>
          <p:cNvSpPr/>
          <p:nvPr/>
        </p:nvSpPr>
        <p:spPr>
          <a:xfrm>
            <a:off x="544195" y="4468495"/>
            <a:ext cx="2103120" cy="132588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212731"/>
                </a:solidFill>
                <a:latin typeface="Aptos"/>
              </a:rPr>
              <a:t>B event 0
8 requests
release = 0
ready = 88</a:t>
            </a:r>
            <a:endParaRPr sz="17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26" name="Rounded Rectangle 13"/>
          <p:cNvSpPr/>
          <p:nvPr/>
        </p:nvSpPr>
        <p:spPr>
          <a:xfrm>
            <a:off x="2800985" y="2238375"/>
            <a:ext cx="3718560" cy="4063365"/>
          </a:xfrm>
          <a:prstGeom prst="roundRect">
            <a:avLst/>
          </a:prstGeom>
          <a:solidFill>
            <a:srgbClr val="F4F6F9"/>
          </a:solidFill>
          <a:ln w="17145">
            <a:solidFill>
              <a:srgbClr val="747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700" b="0">
                <a:solidFill>
                  <a:srgbClr val="212731"/>
                </a:solidFill>
                <a:latin typeface="Aptos"/>
              </a:rPr>
              <a:t>bank timeline 抽象过程
1. event 的 requests 先挂到 future_reads / future_writes
2. release_cycle 到了之后，按 bank_id 进入 ready queues
3. per-bank timeline 决定每条 request 何时完成
4. 只有当同一 group 的全部 requests 都完成时，才写 completion_by_group[group_key]
5. 这个完成时间就是 event ready time</a:t>
            </a:r>
            <a:endParaRPr sz="1700" b="0">
              <a:solidFill>
                <a:srgbClr val="21273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96850"/>
            <a:ext cx="11314430" cy="55753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2800" b="1">
                <a:solidFill>
                  <a:srgbClr val="212731"/>
                </a:solidFill>
                <a:latin typeface="Aptos"/>
              </a:rPr>
              <a:t>一个 output tile 内部：A/B event ready 与 coarse compute 时间</a:t>
            </a:r>
            <a:endParaRPr sz="2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987552"/>
            <a:ext cx="2148840" cy="749808"/>
          </a:xfrm>
          <a:prstGeom prst="roundRect">
            <a:avLst/>
          </a:prstGeom>
          <a:solidFill>
            <a:srgbClr val="EFE9FA"/>
          </a:solidFill>
          <a:ln w="17145">
            <a:solidFill>
              <a:srgbClr val="7F6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212731"/>
                </a:solidFill>
                <a:latin typeface="Aptos"/>
              </a:rPr>
              <a:t>output tile 0
M[0:32], N[0:32]</a:t>
            </a:r>
            <a:endParaRPr sz="1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" y="1801368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1700" b="1">
                <a:solidFill>
                  <a:srgbClr val="2462D2"/>
                </a:solidFill>
                <a:latin typeface="Aptos"/>
              </a:rPr>
              <a:t>1) A event</a:t>
            </a:r>
            <a:endParaRPr sz="1700" b="1">
              <a:solidFill>
                <a:srgbClr val="2462D2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7160" y="2121853"/>
            <a:ext cx="1819910" cy="28067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1000" b="0">
                <a:solidFill>
                  <a:srgbClr val="212731"/>
                </a:solidFill>
                <a:latin typeface="Aptos"/>
              </a:rPr>
              <a:t>local-ready + ring-ready</a:t>
            </a:r>
            <a:endParaRPr sz="1000" b="0">
              <a:solidFill>
                <a:srgbClr val="212731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1353312" y="2029968"/>
            <a:ext cx="10168128" cy="0"/>
          </a:xfrm>
          <a:prstGeom prst="line">
            <a:avLst/>
          </a:prstGeom>
          <a:ln w="127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" y="3035808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1700" b="1">
                <a:solidFill>
                  <a:srgbClr val="EB8D35"/>
                </a:solidFill>
                <a:latin typeface="Aptos"/>
              </a:rPr>
              <a:t>2) B event</a:t>
            </a:r>
            <a:endParaRPr sz="1700" b="1">
              <a:solidFill>
                <a:srgbClr val="EB8D35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4465" y="3298190"/>
            <a:ext cx="1188720" cy="28067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1000" b="0">
                <a:solidFill>
                  <a:srgbClr val="212731"/>
                </a:solidFill>
                <a:latin typeface="Aptos"/>
              </a:rPr>
              <a:t>B </a:t>
            </a:r>
            <a:r>
              <a:rPr lang="en-US" sz="1000" b="0">
                <a:solidFill>
                  <a:srgbClr val="212731"/>
                </a:solidFill>
                <a:latin typeface="Aptos"/>
              </a:rPr>
              <a:t>local-</a:t>
            </a:r>
            <a:r>
              <a:rPr sz="1000" b="0">
                <a:solidFill>
                  <a:srgbClr val="212731"/>
                </a:solidFill>
                <a:latin typeface="Aptos"/>
              </a:rPr>
              <a:t>ready</a:t>
            </a:r>
            <a:endParaRPr sz="1000" b="0">
              <a:solidFill>
                <a:srgbClr val="212731"/>
              </a:solidFill>
              <a:latin typeface="Aptos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1353312" y="3264408"/>
            <a:ext cx="10168128" cy="0"/>
          </a:xfrm>
          <a:prstGeom prst="line">
            <a:avLst/>
          </a:prstGeom>
          <a:ln w="127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" y="4498848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1700" b="1">
                <a:solidFill>
                  <a:srgbClr val="E14F4F"/>
                </a:solidFill>
                <a:latin typeface="Aptos"/>
              </a:rPr>
              <a:t>3) coarse compute</a:t>
            </a:r>
            <a:endParaRPr sz="1700" b="1">
              <a:solidFill>
                <a:srgbClr val="E14F4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4465" y="4955794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1000" b="0">
                <a:solidFill>
                  <a:srgbClr val="212731"/>
                </a:solidFill>
                <a:latin typeface="Aptos"/>
              </a:rPr>
              <a:t>start / end</a:t>
            </a:r>
            <a:endParaRPr sz="1000" b="0">
              <a:solidFill>
                <a:srgbClr val="212731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1353312" y="4727448"/>
            <a:ext cx="10168128" cy="0"/>
          </a:xfrm>
          <a:prstGeom prst="line">
            <a:avLst/>
          </a:prstGeom>
          <a:ln w="12700">
            <a:solidFill>
              <a:srgbClr val="747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42260" y="1664335"/>
            <a:ext cx="742315" cy="36576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2731"/>
                </a:solidFill>
                <a:latin typeface="Aptos"/>
              </a:rPr>
              <a:t>A event0</a:t>
            </a:r>
            <a:endParaRPr sz="12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786505" y="1664335"/>
            <a:ext cx="758190" cy="3657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ring</a:t>
            </a:r>
            <a:endParaRPr sz="1300" b="1">
              <a:solidFill>
                <a:srgbClr val="212731"/>
              </a:solidFill>
              <a:latin typeface="Aptos"/>
            </a:endParaRPr>
          </a:p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ready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674485" y="1664335"/>
            <a:ext cx="750570" cy="36576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2731"/>
                </a:solidFill>
                <a:latin typeface="Aptos"/>
              </a:rPr>
              <a:t>A even</a:t>
            </a:r>
            <a:r>
              <a:rPr lang="en-US" sz="1200" b="1">
                <a:solidFill>
                  <a:srgbClr val="212731"/>
                </a:solidFill>
                <a:latin typeface="Aptos"/>
              </a:rPr>
              <a:t>t1</a:t>
            </a:r>
            <a:endParaRPr lang="en-US" sz="12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2834640" y="2907792"/>
            <a:ext cx="749808" cy="384048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B0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16352" y="3310128"/>
            <a:ext cx="786384" cy="219456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B8D35"/>
                </a:solidFill>
                <a:latin typeface="Aptos"/>
              </a:rPr>
              <a:t>ready 88</a:t>
            </a:r>
            <a:endParaRPr sz="1000" b="0">
              <a:solidFill>
                <a:srgbClr val="EB8D35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816352" y="4315968"/>
            <a:ext cx="786384" cy="512064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2731"/>
                </a:solidFill>
                <a:latin typeface="Aptos"/>
              </a:rPr>
              <a:t>coarse
k=0</a:t>
            </a:r>
            <a:endParaRPr sz="12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88920" y="4873752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start 88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788920" y="5084064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end 104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3200400" y="3291840"/>
            <a:ext cx="0" cy="1024128"/>
          </a:xfrm>
          <a:prstGeom prst="line">
            <a:avLst/>
          </a:prstGeom>
          <a:ln w="16510">
            <a:solidFill>
              <a:srgbClr val="EB8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794760" y="2907792"/>
            <a:ext cx="749808" cy="384048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B1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776472" y="3310128"/>
            <a:ext cx="786384" cy="219456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B8D35"/>
                </a:solidFill>
                <a:latin typeface="Aptos"/>
              </a:rPr>
              <a:t>ready 104</a:t>
            </a:r>
            <a:endParaRPr sz="1000" b="0">
              <a:solidFill>
                <a:srgbClr val="EB8D35"/>
              </a:solidFill>
              <a:latin typeface="Aptos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776472" y="4315968"/>
            <a:ext cx="786384" cy="512064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2731"/>
                </a:solidFill>
                <a:latin typeface="Aptos"/>
              </a:rPr>
              <a:t>coarse
k=1</a:t>
            </a:r>
            <a:endParaRPr sz="12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749040" y="4873752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start 104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749040" y="5084064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end 120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4160520" y="3291840"/>
            <a:ext cx="0" cy="1024128"/>
          </a:xfrm>
          <a:prstGeom prst="line">
            <a:avLst/>
          </a:prstGeom>
          <a:ln w="16510">
            <a:solidFill>
              <a:srgbClr val="EB8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54880" y="2907792"/>
            <a:ext cx="749808" cy="384048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B2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736592" y="3310128"/>
            <a:ext cx="786384" cy="219456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B8D35"/>
                </a:solidFill>
                <a:latin typeface="Aptos"/>
              </a:rPr>
              <a:t>ready 120</a:t>
            </a:r>
            <a:endParaRPr sz="1000" b="0">
              <a:solidFill>
                <a:srgbClr val="EB8D35"/>
              </a:solidFill>
              <a:latin typeface="Aptos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4736592" y="4315968"/>
            <a:ext cx="786384" cy="512064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2731"/>
                </a:solidFill>
                <a:latin typeface="Aptos"/>
              </a:rPr>
              <a:t>coarse
k=2</a:t>
            </a:r>
            <a:endParaRPr sz="12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709160" y="4873752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start 120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09160" y="5084064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end 136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5120640" y="3291840"/>
            <a:ext cx="0" cy="1024128"/>
          </a:xfrm>
          <a:prstGeom prst="line">
            <a:avLst/>
          </a:prstGeom>
          <a:ln w="16510">
            <a:solidFill>
              <a:srgbClr val="EB8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715000" y="2907792"/>
            <a:ext cx="749808" cy="384048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B3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696712" y="3310128"/>
            <a:ext cx="786384" cy="219456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B8D35"/>
                </a:solidFill>
                <a:latin typeface="Aptos"/>
              </a:rPr>
              <a:t>ready 136</a:t>
            </a:r>
            <a:endParaRPr sz="1000" b="0">
              <a:solidFill>
                <a:srgbClr val="EB8D35"/>
              </a:solidFill>
              <a:latin typeface="Aptos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5696712" y="4315968"/>
            <a:ext cx="786384" cy="512064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2731"/>
                </a:solidFill>
                <a:latin typeface="Aptos"/>
              </a:rPr>
              <a:t>coarse
k=3</a:t>
            </a:r>
            <a:endParaRPr sz="12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669280" y="4873752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start 136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669280" y="5084064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end 152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6080760" y="3291840"/>
            <a:ext cx="0" cy="1024128"/>
          </a:xfrm>
          <a:prstGeom prst="line">
            <a:avLst/>
          </a:prstGeom>
          <a:ln w="16510">
            <a:solidFill>
              <a:srgbClr val="EB8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675120" y="2907792"/>
            <a:ext cx="749808" cy="384048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B4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56832" y="3310128"/>
            <a:ext cx="786384" cy="219456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B8D35"/>
                </a:solidFill>
                <a:latin typeface="Aptos"/>
              </a:rPr>
              <a:t>ready 152</a:t>
            </a:r>
            <a:endParaRPr sz="1000" b="0">
              <a:solidFill>
                <a:srgbClr val="EB8D35"/>
              </a:solidFill>
              <a:latin typeface="Aptos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56832" y="4315968"/>
            <a:ext cx="786384" cy="512064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2731"/>
                </a:solidFill>
                <a:latin typeface="Aptos"/>
              </a:rPr>
              <a:t>coarse
k=4</a:t>
            </a:r>
            <a:endParaRPr sz="12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29400" y="4873752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start 152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629400" y="5084064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end 168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cxnSp>
        <p:nvCxnSpPr>
          <p:cNvPr id="49" name="Connector 48"/>
          <p:cNvCxnSpPr/>
          <p:nvPr/>
        </p:nvCxnSpPr>
        <p:spPr>
          <a:xfrm>
            <a:off x="7040880" y="3291840"/>
            <a:ext cx="0" cy="1024128"/>
          </a:xfrm>
          <a:prstGeom prst="line">
            <a:avLst/>
          </a:prstGeom>
          <a:ln w="16510">
            <a:solidFill>
              <a:srgbClr val="EB8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635240" y="2907792"/>
            <a:ext cx="749808" cy="384048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B5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616952" y="3310128"/>
            <a:ext cx="786384" cy="219456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B8D35"/>
                </a:solidFill>
                <a:latin typeface="Aptos"/>
              </a:rPr>
              <a:t>ready 168</a:t>
            </a:r>
            <a:endParaRPr sz="1000" b="0">
              <a:solidFill>
                <a:srgbClr val="EB8D35"/>
              </a:solidFill>
              <a:latin typeface="Aptos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7616952" y="4315968"/>
            <a:ext cx="786384" cy="512064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2731"/>
                </a:solidFill>
                <a:latin typeface="Aptos"/>
              </a:rPr>
              <a:t>coarse
k=5</a:t>
            </a:r>
            <a:endParaRPr sz="12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589520" y="4873752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start 168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589520" y="5084064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end 184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cxnSp>
        <p:nvCxnSpPr>
          <p:cNvPr id="55" name="Connector 54"/>
          <p:cNvCxnSpPr/>
          <p:nvPr/>
        </p:nvCxnSpPr>
        <p:spPr>
          <a:xfrm>
            <a:off x="8001000" y="3291840"/>
            <a:ext cx="0" cy="1024128"/>
          </a:xfrm>
          <a:prstGeom prst="line">
            <a:avLst/>
          </a:prstGeom>
          <a:ln w="16510">
            <a:solidFill>
              <a:srgbClr val="EB8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595360" y="2907792"/>
            <a:ext cx="749808" cy="384048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B6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577072" y="3310128"/>
            <a:ext cx="786384" cy="219456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B8D35"/>
                </a:solidFill>
                <a:latin typeface="Aptos"/>
              </a:rPr>
              <a:t>ready 184</a:t>
            </a:r>
            <a:endParaRPr sz="1000" b="0">
              <a:solidFill>
                <a:srgbClr val="EB8D35"/>
              </a:solidFill>
              <a:latin typeface="Aptos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8577072" y="4315968"/>
            <a:ext cx="786384" cy="512064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2731"/>
                </a:solidFill>
                <a:latin typeface="Aptos"/>
              </a:rPr>
              <a:t>coarse
k=6</a:t>
            </a:r>
            <a:endParaRPr sz="12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549640" y="4873752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start 184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549640" y="5084064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end 200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cxnSp>
        <p:nvCxnSpPr>
          <p:cNvPr id="61" name="Connector 60"/>
          <p:cNvCxnSpPr/>
          <p:nvPr/>
        </p:nvCxnSpPr>
        <p:spPr>
          <a:xfrm>
            <a:off x="8961120" y="3291840"/>
            <a:ext cx="0" cy="1024128"/>
          </a:xfrm>
          <a:prstGeom prst="line">
            <a:avLst/>
          </a:prstGeom>
          <a:ln w="16510">
            <a:solidFill>
              <a:srgbClr val="EB8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555480" y="2907792"/>
            <a:ext cx="749808" cy="384048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B7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537192" y="3310128"/>
            <a:ext cx="786384" cy="219456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B8D35"/>
                </a:solidFill>
                <a:latin typeface="Aptos"/>
              </a:rPr>
              <a:t>ready 200</a:t>
            </a:r>
            <a:endParaRPr sz="1000" b="0">
              <a:solidFill>
                <a:srgbClr val="EB8D35"/>
              </a:solidFill>
              <a:latin typeface="Aptos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9537192" y="4315968"/>
            <a:ext cx="786384" cy="512064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2731"/>
                </a:solidFill>
                <a:latin typeface="Aptos"/>
              </a:rPr>
              <a:t>coarse
k=7</a:t>
            </a:r>
            <a:endParaRPr sz="12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9509760" y="4873752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start 200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9509760" y="5084064"/>
            <a:ext cx="841248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 b="0">
                <a:solidFill>
                  <a:srgbClr val="E14F4F"/>
                </a:solidFill>
                <a:latin typeface="Aptos"/>
              </a:rPr>
              <a:t>end 216</a:t>
            </a:r>
            <a:endParaRPr sz="1000" b="0">
              <a:solidFill>
                <a:srgbClr val="E14F4F"/>
              </a:solidFill>
              <a:latin typeface="Aptos"/>
            </a:endParaRPr>
          </a:p>
        </p:txBody>
      </p:sp>
      <p:cxnSp>
        <p:nvCxnSpPr>
          <p:cNvPr id="67" name="Connector 66"/>
          <p:cNvCxnSpPr/>
          <p:nvPr/>
        </p:nvCxnSpPr>
        <p:spPr>
          <a:xfrm>
            <a:off x="9921240" y="3291840"/>
            <a:ext cx="0" cy="1024128"/>
          </a:xfrm>
          <a:prstGeom prst="line">
            <a:avLst/>
          </a:prstGeom>
          <a:ln w="16510">
            <a:solidFill>
              <a:srgbClr val="EB8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>
            <a:stCxn id="14" idx="2"/>
            <a:endCxn id="20" idx="0"/>
          </p:cNvCxnSpPr>
          <p:nvPr/>
        </p:nvCxnSpPr>
        <p:spPr>
          <a:xfrm flipH="1">
            <a:off x="3209924" y="2029968"/>
            <a:ext cx="3810" cy="877570"/>
          </a:xfrm>
          <a:prstGeom prst="line">
            <a:avLst/>
          </a:prstGeom>
          <a:ln w="15240">
            <a:solidFill>
              <a:srgbClr val="246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800227" y="5370703"/>
            <a:ext cx="10469880" cy="530352"/>
          </a:xfrm>
          <a:prstGeom prst="roundRect">
            <a:avLst/>
          </a:prstGeom>
          <a:solidFill>
            <a:srgbClr val="E8F7EF"/>
          </a:solidFill>
          <a:ln w="17145">
            <a:solidFill>
              <a:srgbClr val="379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731"/>
                </a:solidFill>
                <a:latin typeface="Aptos"/>
              </a:rPr>
              <a:t>coarse 粒度：A(32×2) × B(2×32) 对一个 32×32 output tile 的单个 K-slice 做累加。A/B event 只负责给出 ready；coarse_start 才是 compute 真正开始的时间。</a:t>
            </a:r>
            <a:endParaRPr sz="15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02920" y="6405245"/>
            <a:ext cx="11064240" cy="26543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r"/>
            <a:r>
              <a:rPr sz="900" b="0">
                <a:solidFill>
                  <a:srgbClr val="747B87"/>
                </a:solidFill>
                <a:latin typeface="Aptos"/>
              </a:rPr>
              <a:t>Slide </a:t>
            </a:r>
            <a:r>
              <a:rPr lang="en-US" sz="900" b="0">
                <a:solidFill>
                  <a:srgbClr val="747B87"/>
                </a:solidFill>
                <a:latin typeface="Aptos"/>
              </a:rPr>
              <a:t>7</a:t>
            </a:r>
            <a:r>
              <a:rPr sz="900" b="0">
                <a:solidFill>
                  <a:srgbClr val="747B87"/>
                </a:solidFill>
                <a:latin typeface="Aptos"/>
              </a:rPr>
              <a:t> · A/B event ready 与 coarse compute 时间要分开看</a:t>
            </a:r>
            <a:endParaRPr sz="900" b="0">
              <a:solidFill>
                <a:srgbClr val="747B87"/>
              </a:solidFill>
              <a:latin typeface="Aptos"/>
            </a:endParaRPr>
          </a:p>
        </p:txBody>
      </p:sp>
      <p:cxnSp>
        <p:nvCxnSpPr>
          <p:cNvPr id="76" name="Connector 70"/>
          <p:cNvCxnSpPr>
            <a:stCxn id="15" idx="2"/>
            <a:endCxn id="26" idx="0"/>
          </p:cNvCxnSpPr>
          <p:nvPr/>
        </p:nvCxnSpPr>
        <p:spPr>
          <a:xfrm>
            <a:off x="4165599" y="2029968"/>
            <a:ext cx="4445" cy="877570"/>
          </a:xfrm>
          <a:prstGeom prst="line">
            <a:avLst/>
          </a:prstGeom>
          <a:ln w="15240">
            <a:solidFill>
              <a:srgbClr val="246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20"/>
          <p:cNvSpPr txBox="1"/>
          <p:nvPr/>
        </p:nvSpPr>
        <p:spPr>
          <a:xfrm>
            <a:off x="2703195" y="2070735"/>
            <a:ext cx="1045845" cy="28067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>
                <a:solidFill>
                  <a:srgbClr val="2462D2"/>
                </a:solidFill>
                <a:latin typeface="Aptos"/>
                <a:sym typeface="+mn-ea"/>
              </a:rPr>
              <a:t>local ready 28</a:t>
            </a:r>
            <a:endParaRPr sz="1000" b="0">
              <a:solidFill>
                <a:srgbClr val="EB8D35"/>
              </a:solidFill>
              <a:latin typeface="Aptos"/>
            </a:endParaRPr>
          </a:p>
        </p:txBody>
      </p:sp>
      <p:sp>
        <p:nvSpPr>
          <p:cNvPr id="78" name="TextBox 20"/>
          <p:cNvSpPr txBox="1"/>
          <p:nvPr/>
        </p:nvSpPr>
        <p:spPr>
          <a:xfrm>
            <a:off x="6543675" y="2070735"/>
            <a:ext cx="1045845" cy="28067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sz="1000">
                <a:solidFill>
                  <a:srgbClr val="2462D2"/>
                </a:solidFill>
                <a:latin typeface="Aptos"/>
                <a:sym typeface="+mn-ea"/>
              </a:rPr>
              <a:t>local ready </a:t>
            </a:r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44</a:t>
            </a:r>
            <a:endParaRPr lang="en-US" sz="1000" b="0">
              <a:solidFill>
                <a:srgbClr val="2462D2"/>
              </a:solidFill>
              <a:latin typeface="Aptos"/>
              <a:sym typeface="+mn-ea"/>
            </a:endParaRPr>
          </a:p>
        </p:txBody>
      </p:sp>
      <p:sp>
        <p:nvSpPr>
          <p:cNvPr id="79" name="Rounded Rectangle 14"/>
          <p:cNvSpPr/>
          <p:nvPr/>
        </p:nvSpPr>
        <p:spPr>
          <a:xfrm>
            <a:off x="4754880" y="1664335"/>
            <a:ext cx="750570" cy="3657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ring</a:t>
            </a:r>
            <a:endParaRPr sz="1300" b="1">
              <a:solidFill>
                <a:srgbClr val="212731"/>
              </a:solidFill>
              <a:latin typeface="Aptos"/>
            </a:endParaRPr>
          </a:p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ready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80" name="Rounded Rectangle 14"/>
          <p:cNvSpPr/>
          <p:nvPr/>
        </p:nvSpPr>
        <p:spPr>
          <a:xfrm>
            <a:off x="5714365" y="1664335"/>
            <a:ext cx="750570" cy="3657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ring</a:t>
            </a:r>
            <a:endParaRPr sz="1300" b="1">
              <a:solidFill>
                <a:srgbClr val="212731"/>
              </a:solidFill>
              <a:latin typeface="Aptos"/>
            </a:endParaRPr>
          </a:p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ready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81" name="Rounded Rectangle 14"/>
          <p:cNvSpPr/>
          <p:nvPr/>
        </p:nvSpPr>
        <p:spPr>
          <a:xfrm>
            <a:off x="7635240" y="1664335"/>
            <a:ext cx="750570" cy="3657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ring</a:t>
            </a:r>
            <a:endParaRPr sz="1300" b="1">
              <a:solidFill>
                <a:srgbClr val="212731"/>
              </a:solidFill>
              <a:latin typeface="Aptos"/>
            </a:endParaRPr>
          </a:p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ready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82" name="Rounded Rectangle 14"/>
          <p:cNvSpPr/>
          <p:nvPr/>
        </p:nvSpPr>
        <p:spPr>
          <a:xfrm>
            <a:off x="8594725" y="1664335"/>
            <a:ext cx="750570" cy="3657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ring</a:t>
            </a:r>
            <a:endParaRPr sz="1300" b="1">
              <a:solidFill>
                <a:srgbClr val="212731"/>
              </a:solidFill>
              <a:latin typeface="Aptos"/>
            </a:endParaRPr>
          </a:p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ready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83" name="Rounded Rectangle 14"/>
          <p:cNvSpPr/>
          <p:nvPr/>
        </p:nvSpPr>
        <p:spPr>
          <a:xfrm>
            <a:off x="9555480" y="1664335"/>
            <a:ext cx="750570" cy="3657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ring</a:t>
            </a:r>
            <a:endParaRPr sz="1300" b="1">
              <a:solidFill>
                <a:srgbClr val="212731"/>
              </a:solidFill>
              <a:latin typeface="Aptos"/>
            </a:endParaRPr>
          </a:p>
          <a:p>
            <a:pPr algn="ctr"/>
            <a:r>
              <a:rPr sz="1300" b="1">
                <a:solidFill>
                  <a:srgbClr val="212731"/>
                </a:solidFill>
                <a:latin typeface="Aptos"/>
              </a:rPr>
              <a:t>ready</a:t>
            </a:r>
            <a:endParaRPr sz="13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84" name="TextBox 20"/>
          <p:cNvSpPr txBox="1"/>
          <p:nvPr/>
        </p:nvSpPr>
        <p:spPr>
          <a:xfrm>
            <a:off x="3630295" y="2070735"/>
            <a:ext cx="1045845" cy="28067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ring</a:t>
            </a:r>
            <a:r>
              <a:rPr sz="1000">
                <a:solidFill>
                  <a:srgbClr val="2462D2"/>
                </a:solidFill>
                <a:latin typeface="Aptos"/>
                <a:sym typeface="+mn-ea"/>
              </a:rPr>
              <a:t> ready </a:t>
            </a:r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32</a:t>
            </a:r>
            <a:endParaRPr lang="en-US" sz="1000" b="0">
              <a:solidFill>
                <a:srgbClr val="2462D2"/>
              </a:solidFill>
              <a:latin typeface="Aptos"/>
              <a:sym typeface="+mn-ea"/>
            </a:endParaRPr>
          </a:p>
        </p:txBody>
      </p:sp>
      <p:sp>
        <p:nvSpPr>
          <p:cNvPr id="85" name="TextBox 20"/>
          <p:cNvSpPr txBox="1"/>
          <p:nvPr/>
        </p:nvSpPr>
        <p:spPr>
          <a:xfrm>
            <a:off x="4623435" y="2070735"/>
            <a:ext cx="1045845" cy="28067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ring</a:t>
            </a:r>
            <a:r>
              <a:rPr sz="1000">
                <a:solidFill>
                  <a:srgbClr val="2462D2"/>
                </a:solidFill>
                <a:latin typeface="Aptos"/>
                <a:sym typeface="+mn-ea"/>
              </a:rPr>
              <a:t> ready </a:t>
            </a:r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108</a:t>
            </a:r>
            <a:endParaRPr lang="en-US" sz="1000" b="0">
              <a:solidFill>
                <a:srgbClr val="2462D2"/>
              </a:solidFill>
              <a:latin typeface="Aptos"/>
              <a:sym typeface="+mn-ea"/>
            </a:endParaRPr>
          </a:p>
        </p:txBody>
      </p:sp>
      <p:sp>
        <p:nvSpPr>
          <p:cNvPr id="86" name="TextBox 20"/>
          <p:cNvSpPr txBox="1"/>
          <p:nvPr/>
        </p:nvSpPr>
        <p:spPr>
          <a:xfrm>
            <a:off x="5583555" y="2070735"/>
            <a:ext cx="1045845" cy="28067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ring</a:t>
            </a:r>
            <a:r>
              <a:rPr sz="1000">
                <a:solidFill>
                  <a:srgbClr val="2462D2"/>
                </a:solidFill>
                <a:latin typeface="Aptos"/>
                <a:sym typeface="+mn-ea"/>
              </a:rPr>
              <a:t> ready </a:t>
            </a:r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124</a:t>
            </a:r>
            <a:endParaRPr lang="en-US" sz="1000" b="0">
              <a:solidFill>
                <a:srgbClr val="2462D2"/>
              </a:solidFill>
              <a:latin typeface="Aptos"/>
              <a:sym typeface="+mn-ea"/>
            </a:endParaRPr>
          </a:p>
        </p:txBody>
      </p:sp>
      <p:sp>
        <p:nvSpPr>
          <p:cNvPr id="87" name="TextBox 20"/>
          <p:cNvSpPr txBox="1"/>
          <p:nvPr/>
        </p:nvSpPr>
        <p:spPr>
          <a:xfrm>
            <a:off x="7492365" y="2070735"/>
            <a:ext cx="1045845" cy="28067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ring</a:t>
            </a:r>
            <a:r>
              <a:rPr sz="1000">
                <a:solidFill>
                  <a:srgbClr val="2462D2"/>
                </a:solidFill>
                <a:latin typeface="Aptos"/>
                <a:sym typeface="+mn-ea"/>
              </a:rPr>
              <a:t> ready </a:t>
            </a:r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48</a:t>
            </a:r>
            <a:endParaRPr lang="en-US" sz="1000" b="0">
              <a:solidFill>
                <a:srgbClr val="2462D2"/>
              </a:solidFill>
              <a:latin typeface="Aptos"/>
              <a:sym typeface="+mn-ea"/>
            </a:endParaRPr>
          </a:p>
        </p:txBody>
      </p:sp>
      <p:sp>
        <p:nvSpPr>
          <p:cNvPr id="88" name="TextBox 20"/>
          <p:cNvSpPr txBox="1"/>
          <p:nvPr/>
        </p:nvSpPr>
        <p:spPr>
          <a:xfrm>
            <a:off x="8485505" y="2070735"/>
            <a:ext cx="1045845" cy="28067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ring</a:t>
            </a:r>
            <a:r>
              <a:rPr sz="1000">
                <a:solidFill>
                  <a:srgbClr val="2462D2"/>
                </a:solidFill>
                <a:latin typeface="Aptos"/>
                <a:sym typeface="+mn-ea"/>
              </a:rPr>
              <a:t> ready </a:t>
            </a:r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172</a:t>
            </a:r>
            <a:endParaRPr lang="en-US" sz="1000" b="0">
              <a:solidFill>
                <a:srgbClr val="2462D2"/>
              </a:solidFill>
              <a:latin typeface="Aptos"/>
              <a:sym typeface="+mn-ea"/>
            </a:endParaRPr>
          </a:p>
        </p:txBody>
      </p:sp>
      <p:sp>
        <p:nvSpPr>
          <p:cNvPr id="89" name="TextBox 20"/>
          <p:cNvSpPr txBox="1"/>
          <p:nvPr/>
        </p:nvSpPr>
        <p:spPr>
          <a:xfrm>
            <a:off x="9445625" y="2070735"/>
            <a:ext cx="1045845" cy="28067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ctr"/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ring</a:t>
            </a:r>
            <a:r>
              <a:rPr sz="1000">
                <a:solidFill>
                  <a:srgbClr val="2462D2"/>
                </a:solidFill>
                <a:latin typeface="Aptos"/>
                <a:sym typeface="+mn-ea"/>
              </a:rPr>
              <a:t> ready </a:t>
            </a:r>
            <a:r>
              <a:rPr lang="en-US" sz="1000">
                <a:solidFill>
                  <a:srgbClr val="2462D2"/>
                </a:solidFill>
                <a:latin typeface="Aptos"/>
                <a:sym typeface="+mn-ea"/>
              </a:rPr>
              <a:t>192</a:t>
            </a:r>
            <a:endParaRPr lang="en-US" sz="1000" b="0">
              <a:solidFill>
                <a:srgbClr val="2462D2"/>
              </a:solidFill>
              <a:latin typeface="Aptos"/>
              <a:sym typeface="+mn-ea"/>
            </a:endParaRPr>
          </a:p>
        </p:txBody>
      </p:sp>
      <p:cxnSp>
        <p:nvCxnSpPr>
          <p:cNvPr id="90" name="Connector 70"/>
          <p:cNvCxnSpPr/>
          <p:nvPr/>
        </p:nvCxnSpPr>
        <p:spPr>
          <a:xfrm flipH="1">
            <a:off x="5125084" y="2029968"/>
            <a:ext cx="3810" cy="877570"/>
          </a:xfrm>
          <a:prstGeom prst="line">
            <a:avLst/>
          </a:prstGeom>
          <a:ln w="15240">
            <a:solidFill>
              <a:srgbClr val="246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70"/>
          <p:cNvCxnSpPr/>
          <p:nvPr/>
        </p:nvCxnSpPr>
        <p:spPr>
          <a:xfrm>
            <a:off x="6080759" y="2029968"/>
            <a:ext cx="4445" cy="877570"/>
          </a:xfrm>
          <a:prstGeom prst="line">
            <a:avLst/>
          </a:prstGeom>
          <a:ln w="15240">
            <a:solidFill>
              <a:srgbClr val="246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70"/>
          <p:cNvCxnSpPr/>
          <p:nvPr/>
        </p:nvCxnSpPr>
        <p:spPr>
          <a:xfrm flipH="1">
            <a:off x="7045959" y="2029968"/>
            <a:ext cx="3810" cy="877570"/>
          </a:xfrm>
          <a:prstGeom prst="line">
            <a:avLst/>
          </a:prstGeom>
          <a:ln w="15240">
            <a:solidFill>
              <a:srgbClr val="246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70"/>
          <p:cNvCxnSpPr/>
          <p:nvPr/>
        </p:nvCxnSpPr>
        <p:spPr>
          <a:xfrm>
            <a:off x="8001634" y="2029968"/>
            <a:ext cx="4445" cy="877570"/>
          </a:xfrm>
          <a:prstGeom prst="line">
            <a:avLst/>
          </a:prstGeom>
          <a:ln w="15240">
            <a:solidFill>
              <a:srgbClr val="246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70"/>
          <p:cNvCxnSpPr/>
          <p:nvPr/>
        </p:nvCxnSpPr>
        <p:spPr>
          <a:xfrm flipH="1">
            <a:off x="8961119" y="2029968"/>
            <a:ext cx="3810" cy="877570"/>
          </a:xfrm>
          <a:prstGeom prst="line">
            <a:avLst/>
          </a:prstGeom>
          <a:ln w="15240">
            <a:solidFill>
              <a:srgbClr val="246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70"/>
          <p:cNvCxnSpPr/>
          <p:nvPr/>
        </p:nvCxnSpPr>
        <p:spPr>
          <a:xfrm>
            <a:off x="9916794" y="2029968"/>
            <a:ext cx="4445" cy="877570"/>
          </a:xfrm>
          <a:prstGeom prst="line">
            <a:avLst/>
          </a:prstGeom>
          <a:ln w="15240">
            <a:solidFill>
              <a:srgbClr val="246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88"/>
          <p:cNvSpPr/>
          <p:nvPr/>
        </p:nvSpPr>
        <p:spPr>
          <a:xfrm>
            <a:off x="2927985" y="5989320"/>
            <a:ext cx="6836410" cy="456565"/>
          </a:xfrm>
          <a:prstGeom prst="roundRect">
            <a:avLst/>
          </a:prstGeom>
          <a:solidFill>
            <a:srgbClr val="E8F7EF"/>
          </a:solidFill>
          <a:ln w="17145">
            <a:solidFill>
              <a:srgbClr val="379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212731"/>
                </a:solidFill>
                <a:latin typeface="Aptos"/>
              </a:rPr>
              <a:t>final latency = max(compute_pipeline, ring, memory, AG)</a:t>
            </a:r>
            <a:endParaRPr sz="1500" b="1">
              <a:solidFill>
                <a:srgbClr val="21273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l"/>
            <a:r>
              <a:rPr sz="2800" b="1">
                <a:solidFill>
                  <a:srgbClr val="212731"/>
                </a:solidFill>
                <a:latin typeface="Aptos"/>
              </a:rPr>
              <a:t>最终瓶颈选择：谁最后结束，谁决定 latency</a:t>
            </a:r>
            <a:endParaRPr sz="28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777240" y="1417320"/>
            <a:ext cx="1828800" cy="1051560"/>
          </a:xfrm>
          <a:prstGeom prst="roundRect">
            <a:avLst/>
          </a:prstGeom>
          <a:solidFill>
            <a:srgbClr val="E6EFFF"/>
          </a:solidFill>
          <a:ln w="17145">
            <a:solidFill>
              <a:srgbClr val="246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212731"/>
                </a:solidFill>
                <a:latin typeface="Aptos"/>
              </a:rPr>
              <a:t>compute
256</a:t>
            </a:r>
            <a:endParaRPr sz="2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880360" y="1417320"/>
            <a:ext cx="1828800" cy="1051560"/>
          </a:xfrm>
          <a:prstGeom prst="roundRect">
            <a:avLst/>
          </a:prstGeom>
          <a:solidFill>
            <a:srgbClr val="FFEFDF"/>
          </a:solidFill>
          <a:ln w="17145">
            <a:solidFill>
              <a:srgbClr val="EB8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212731"/>
                </a:solidFill>
                <a:latin typeface="Aptos"/>
              </a:rPr>
              <a:t>AG issue
256</a:t>
            </a:r>
            <a:endParaRPr sz="2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983480" y="1417320"/>
            <a:ext cx="1965960" cy="1051560"/>
          </a:xfrm>
          <a:prstGeom prst="roundRect">
            <a:avLst/>
          </a:prstGeom>
          <a:solidFill>
            <a:srgbClr val="FFE8E6"/>
          </a:solidFill>
          <a:ln w="17145">
            <a:solidFill>
              <a:srgbClr val="E1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212731"/>
                </a:solidFill>
                <a:latin typeface="Aptos"/>
              </a:rPr>
              <a:t>ring
</a:t>
            </a:r>
            <a:r>
              <a:rPr lang="en-US" sz="2400" b="1">
                <a:solidFill>
                  <a:srgbClr val="212731"/>
                </a:solidFill>
                <a:latin typeface="Aptos"/>
              </a:rPr>
              <a:t>48</a:t>
            </a:r>
            <a:endParaRPr lang="en-US" sz="2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69480" y="1417320"/>
            <a:ext cx="2240280" cy="1051560"/>
          </a:xfrm>
          <a:prstGeom prst="roundRect">
            <a:avLst/>
          </a:prstGeom>
          <a:solidFill>
            <a:srgbClr val="EFE9FA"/>
          </a:solidFill>
          <a:ln w="17145">
            <a:solidFill>
              <a:srgbClr val="7F6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212731"/>
                </a:solidFill>
                <a:latin typeface="Aptos"/>
              </a:rPr>
              <a:t>memory
1100</a:t>
            </a:r>
            <a:endParaRPr sz="2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829800" y="1417320"/>
            <a:ext cx="1645920" cy="1051560"/>
          </a:xfrm>
          <a:prstGeom prst="roundRect">
            <a:avLst/>
          </a:prstGeom>
          <a:solidFill>
            <a:srgbClr val="E8F7EF"/>
          </a:solidFill>
          <a:ln w="17145">
            <a:solidFill>
              <a:srgbClr val="379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212731"/>
                </a:solidFill>
                <a:latin typeface="Aptos"/>
              </a:rPr>
              <a:t>latency
1100</a:t>
            </a:r>
            <a:endParaRPr sz="24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357630" y="3716020"/>
            <a:ext cx="9052560" cy="731520"/>
          </a:xfrm>
          <a:prstGeom prst="roundRect">
            <a:avLst/>
          </a:prstGeom>
          <a:solidFill>
            <a:srgbClr val="E8F7EF"/>
          </a:solidFill>
          <a:ln w="17145">
            <a:solidFill>
              <a:srgbClr val="379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212731"/>
                </a:solidFill>
                <a:latin typeface="Aptos"/>
              </a:rPr>
              <a:t>max(compute_pipeline, ring_timeline, memory_timeline, ag_issue)  →  最晚结束者决定 latency</a:t>
            </a:r>
            <a:endParaRPr sz="2000" b="1">
              <a:solidFill>
                <a:srgbClr val="212731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2920" y="6405245"/>
            <a:ext cx="11064240" cy="265430"/>
          </a:xfrm>
          <a:prstGeom prst="rect">
            <a:avLst/>
          </a:prstGeom>
          <a:noFill/>
          <a:ln>
            <a:noFill/>
          </a:ln>
        </p:spPr>
        <p:txBody>
          <a:bodyPr wrap="square" lIns="64008" tIns="64008" rIns="64008" bIns="64008" anchor="ctr">
            <a:spAutoFit/>
          </a:bodyPr>
          <a:lstStyle/>
          <a:p>
            <a:pPr algn="r"/>
            <a:r>
              <a:rPr sz="900" b="0">
                <a:solidFill>
                  <a:srgbClr val="747B87"/>
                </a:solidFill>
                <a:latin typeface="Aptos"/>
              </a:rPr>
              <a:t>Slide </a:t>
            </a:r>
            <a:r>
              <a:rPr lang="en-US" sz="900" b="0">
                <a:solidFill>
                  <a:srgbClr val="747B87"/>
                </a:solidFill>
                <a:latin typeface="Aptos"/>
              </a:rPr>
              <a:t>8</a:t>
            </a:r>
            <a:r>
              <a:rPr sz="900" b="0">
                <a:solidFill>
                  <a:srgbClr val="747B87"/>
                </a:solidFill>
                <a:latin typeface="Aptos"/>
              </a:rPr>
              <a:t> · final bound selection</a:t>
            </a:r>
            <a:endParaRPr sz="900" b="0">
              <a:solidFill>
                <a:srgbClr val="747B87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5517</Words>
  <Application>WPS 演示</Application>
  <PresentationFormat>On-screen Show (4:3)</PresentationFormat>
  <Paragraphs>471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Arial</vt:lpstr>
      <vt:lpstr>Aptos</vt:lpstr>
      <vt:lpstr>Segoe UI</vt:lpstr>
      <vt:lpstr>Consolas</vt:lpstr>
      <vt:lpstr>Consolas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余粥可温</cp:lastModifiedBy>
  <cp:revision>31</cp:revision>
  <dcterms:created xsi:type="dcterms:W3CDTF">2013-01-27T09:14:00Z</dcterms:created>
  <dcterms:modified xsi:type="dcterms:W3CDTF">2026-05-24T10:36:04Z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AE2AE93281494DBD83225ABBE52971A1_12</vt:lpwstr>
  </property>
</Properties>
</file>