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7"/>
    <p:sldId id="259" r:id="rId8"/>
    <p:sldId id="263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00100" y="514350"/>
            <a:ext cx="16687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01 / Overview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0100" y="838200"/>
            <a:ext cx="166878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普通算子性能分析全景图</a:t>
            </a:r>
            <a:endParaRPr sz="40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156210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1733550"/>
            <a:ext cx="120586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把模拟器看成多层对象之间的投影关系：逻辑张量先投影成请求几何，再投影成 bank 局部状态与控制器闭环，最后汇总成 latency。</a:t>
            </a:r>
            <a:endParaRPr sz="1650">
              <a:solidFill>
                <a:srgbClr val="475569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2421255"/>
            <a:ext cx="5448300" cy="2000250"/>
          </a:xfrm>
          <a:prstGeom prst="roundRect">
            <a:avLst>
              <a:gd name="adj" fmla="val 10476"/>
            </a:avLst>
          </a:prstGeom>
          <a:solidFill>
            <a:srgbClr val="F8FAFC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5908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Logical tensor space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952750"/>
            <a:ext cx="9144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990600" y="31146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31242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314450" y="31146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14450" y="31242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638300" y="31146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638300" y="31242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962150" y="31146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962150" y="31242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286000" y="31146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286000" y="31242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90600" y="34385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34480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314450" y="34385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14450" y="34480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638300" y="34385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638300" y="34480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962150" y="34385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962150" y="34480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2286000" y="34385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286000" y="34480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0600" y="3762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90600" y="37719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314450" y="3762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314450" y="37719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638300" y="3762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638300" y="37719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962150" y="3762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62150" y="37719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286000" y="3762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286000" y="377190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990600" y="40862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90600" y="40957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314450" y="40862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314450" y="40957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1638300" y="40862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638300" y="40957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1962150" y="40862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962150" y="40957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2286000" y="40862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286000" y="4095750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2724150" y="3114675"/>
            <a:ext cx="1229678" cy="293370"/>
          </a:xfrm>
          <a:prstGeom prst="roundRect">
            <a:avLst>
              <a:gd name="adj" fmla="val 50000"/>
            </a:avLst>
          </a:prstGeom>
          <a:solidFill>
            <a:srgbClr val="DBEAFE"/>
          </a:solidFill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838450" y="3181350"/>
            <a:ext cx="1009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logical tensor tiles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2724150" y="3503295"/>
            <a:ext cx="1341501" cy="293370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2838450" y="3562350"/>
            <a:ext cx="1649095" cy="2000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edge traversal order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2724150" y="3891915"/>
            <a:ext cx="3278029" cy="293370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838450" y="3962400"/>
            <a:ext cx="3409315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same op, different remap -&gt; different landing geometry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419850" y="2421255"/>
            <a:ext cx="5448300" cy="3913505"/>
          </a:xfrm>
          <a:prstGeom prst="roundRect">
            <a:avLst>
              <a:gd name="adj" fmla="val 8730"/>
            </a:avLst>
          </a:prstGeom>
          <a:solidFill>
            <a:srgbClr val="EDE9FE"/>
          </a:solidFill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610350" y="25908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AG release lanes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610350" y="2952750"/>
            <a:ext cx="91440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6610350" y="3114675"/>
            <a:ext cx="5067300" cy="982980"/>
          </a:xfrm>
          <a:prstGeom prst="roundRect">
            <a:avLst>
              <a:gd name="adj" fmla="val 17442"/>
            </a:avLst>
          </a:prstGeom>
          <a:solidFill>
            <a:srgbClr val="FFFFFF"/>
          </a:solidFill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743700" y="3238500"/>
            <a:ext cx="4800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AG0 / read-A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6743700" y="3529965"/>
            <a:ext cx="480822" cy="293370"/>
          </a:xfrm>
          <a:prstGeom prst="roundRect">
            <a:avLst>
              <a:gd name="adj" fmla="val 50000"/>
            </a:avLst>
          </a:prstGeom>
          <a:solidFill>
            <a:srgbClr val="DBEAFE"/>
          </a:solidFill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6858000" y="3600450"/>
            <a:ext cx="353060" cy="1619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req0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300722" y="3529965"/>
            <a:ext cx="480822" cy="293370"/>
          </a:xfrm>
          <a:prstGeom prst="roundRect">
            <a:avLst>
              <a:gd name="adj" fmla="val 50000"/>
            </a:avLst>
          </a:prstGeom>
          <a:solidFill>
            <a:srgbClr val="DBEAFE"/>
          </a:solidFill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410450" y="3600450"/>
            <a:ext cx="370840" cy="1619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req1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7857744" y="3529965"/>
            <a:ext cx="480822" cy="293370"/>
          </a:xfrm>
          <a:prstGeom prst="roundRect">
            <a:avLst>
              <a:gd name="adj" fmla="val 50000"/>
            </a:avLst>
          </a:prstGeom>
          <a:solidFill>
            <a:srgbClr val="DBEAFE"/>
          </a:solidFill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962900" y="3600450"/>
            <a:ext cx="334645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req2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8415020" y="3529965"/>
            <a:ext cx="1134110" cy="293370"/>
          </a:xfrm>
          <a:prstGeom prst="roundRect">
            <a:avLst>
              <a:gd name="adj" fmla="val 50000"/>
            </a:avLst>
          </a:prstGeom>
          <a:solidFill>
            <a:srgbClr val="F8FAFC"/>
          </a:solidFill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8534400" y="3600450"/>
            <a:ext cx="1485265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issue_rate gated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6610350" y="4231005"/>
            <a:ext cx="5067300" cy="822960"/>
          </a:xfrm>
          <a:prstGeom prst="roundRect">
            <a:avLst>
              <a:gd name="adj" fmla="val 20833"/>
            </a:avLst>
          </a:prstGeom>
          <a:solidFill>
            <a:srgbClr val="FFFFFF"/>
          </a:solidFill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6743700" y="4343400"/>
            <a:ext cx="4800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AG1 / read-B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6743700" y="4646295"/>
            <a:ext cx="480822" cy="293370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6858000" y="4705350"/>
            <a:ext cx="35306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req0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7300722" y="4646295"/>
            <a:ext cx="480822" cy="293370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410450" y="4705350"/>
            <a:ext cx="37084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req1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7857744" y="4646295"/>
            <a:ext cx="480822" cy="293370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7962900" y="4705350"/>
            <a:ext cx="37592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req2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6610350" y="5187315"/>
            <a:ext cx="5067300" cy="982980"/>
          </a:xfrm>
          <a:prstGeom prst="roundRect">
            <a:avLst>
              <a:gd name="adj" fmla="val 17442"/>
            </a:avLst>
          </a:prstGeom>
          <a:solidFill>
            <a:srgbClr val="FFFFFF"/>
          </a:solidFill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6743700" y="5295900"/>
            <a:ext cx="4800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AG4 / writeback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6743700" y="5602605"/>
            <a:ext cx="467106" cy="453390"/>
          </a:xfrm>
          <a:prstGeom prst="roundRect">
            <a:avLst>
              <a:gd name="adj" fmla="val 50000"/>
            </a:avLst>
          </a:prstGeom>
          <a:solidFill>
            <a:srgbClr val="FEE2E2"/>
          </a:solidFill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6858000" y="5732145"/>
            <a:ext cx="247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wb0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7287006" y="5602605"/>
            <a:ext cx="467106" cy="453390"/>
          </a:xfrm>
          <a:prstGeom prst="roundRect">
            <a:avLst>
              <a:gd name="adj" fmla="val 50000"/>
            </a:avLst>
          </a:prstGeom>
          <a:solidFill>
            <a:srgbClr val="FEE2E2"/>
          </a:solidFill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7410450" y="5732145"/>
            <a:ext cx="247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wb1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7830312" y="5602605"/>
            <a:ext cx="467106" cy="453390"/>
          </a:xfrm>
          <a:prstGeom prst="roundRect">
            <a:avLst>
              <a:gd name="adj" fmla="val 50000"/>
            </a:avLst>
          </a:prstGeom>
          <a:solidFill>
            <a:srgbClr val="FEE2E2"/>
          </a:solidFill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7943850" y="5732145"/>
            <a:ext cx="247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wb2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12039600" y="2421255"/>
            <a:ext cx="5448300" cy="3913505"/>
          </a:xfrm>
          <a:prstGeom prst="roundRect">
            <a:avLst>
              <a:gd name="adj" fmla="val 6111"/>
            </a:avLst>
          </a:prstGeom>
          <a:solidFill>
            <a:srgbClr val="F8FAFC"/>
          </a:solidFill>
        </p:spPr>
      </p:sp>
      <p:sp>
        <p:nvSpPr>
          <p:cNvPr id="85" name="圆角矩形 84"/>
          <p:cNvSpPr>
            <a:spLocks noGrp="1"/>
          </p:cNvSpPr>
          <p:nvPr/>
        </p:nvSpPr>
        <p:spPr>
          <a:xfrm>
            <a:off x="12230100" y="2592705"/>
            <a:ext cx="3429000" cy="8382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2401550" y="2724150"/>
            <a:ext cx="3086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Global controller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2401550" y="3048000"/>
            <a:ext cx="3086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now  | pending_writes | slice_blocked | forced_drain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15811500" y="2590800"/>
            <a:ext cx="14859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dispatch + arbitration window</a:t>
            </a:r>
            <a:endParaRPr sz="1350">
              <a:solidFill>
                <a:srgbClr val="64748B"/>
              </a:solidFill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12230100" y="3583305"/>
            <a:ext cx="1152525" cy="1428750"/>
          </a:xfrm>
          <a:prstGeom prst="roundRect">
            <a:avLst>
              <a:gd name="adj" fmla="val 16529"/>
            </a:avLst>
          </a:prstGeom>
          <a:solidFill>
            <a:srgbClr val="DBEAFE"/>
          </a:solidFill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2382500" y="3714750"/>
            <a:ext cx="857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Bank 0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2230100" y="4019550"/>
            <a:ext cx="1216660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open_row = r12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phase = R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ready_q | write_q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row_hits accumulate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13535025" y="3583305"/>
            <a:ext cx="1152525" cy="1428750"/>
          </a:xfrm>
          <a:prstGeom prst="roundRect">
            <a:avLst>
              <a:gd name="adj" fmla="val 16529"/>
            </a:avLst>
          </a:prstGeom>
          <a:solidFill>
            <a:srgbClr val="CCFBF1"/>
          </a:solidFill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3696950" y="3714750"/>
            <a:ext cx="857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Bank 1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13535025" y="4019550"/>
            <a:ext cx="1171575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open_row = r07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phase = R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ready_q | write_q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few row switches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14839950" y="3583305"/>
            <a:ext cx="1152525" cy="1428750"/>
          </a:xfrm>
          <a:prstGeom prst="roundRect">
            <a:avLst>
              <a:gd name="adj" fmla="val 16529"/>
            </a:avLst>
          </a:prstGeom>
          <a:solidFill>
            <a:srgbClr val="FEF3C7"/>
          </a:solidFill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4992350" y="3714750"/>
            <a:ext cx="857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Bank 2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4839950" y="4019550"/>
            <a:ext cx="1152525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open_row = r04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phase = W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write pressure visible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phase switch pending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16144875" y="3583305"/>
            <a:ext cx="1152525" cy="1428750"/>
          </a:xfrm>
          <a:prstGeom prst="roundRect">
            <a:avLst>
              <a:gd name="adj" fmla="val 16529"/>
            </a:avLst>
          </a:prstGeom>
          <a:solidFill>
            <a:srgbClr val="FEE2E2"/>
          </a:solidFill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16306800" y="3714750"/>
            <a:ext cx="857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Bank 3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6144875" y="4019550"/>
            <a:ext cx="1152525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open_row = r19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phase = R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sparse arrivals</a:t>
            </a:r>
            <a:endParaRPr sz="1200">
              <a:solidFill>
                <a:srgbClr val="475569"/>
              </a:solidFill>
            </a:endParaRP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arbiter2 likely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2230100" y="5164455"/>
            <a:ext cx="2476500" cy="453390"/>
          </a:xfrm>
          <a:prstGeom prst="roundRect">
            <a:avLst>
              <a:gd name="adj" fmla="val 50000"/>
            </a:avLst>
          </a:prstGeom>
          <a:solidFill>
            <a:srgbClr val="DBEAFE"/>
          </a:solidFill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12344400" y="5318760"/>
            <a:ext cx="150114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per-bank local state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14820900" y="5164455"/>
            <a:ext cx="2476500" cy="453390"/>
          </a:xfrm>
          <a:prstGeom prst="roundRect">
            <a:avLst>
              <a:gd name="adj" fmla="val 50000"/>
            </a:avLst>
          </a:prstGeom>
          <a:solidFill>
            <a:srgbClr val="EDE9FE"/>
          </a:solidFill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14935200" y="5318760"/>
            <a:ext cx="1370965" cy="17970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global time loop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12230100" y="5713095"/>
            <a:ext cx="2476500" cy="453390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12344400" y="5852160"/>
            <a:ext cx="1500505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ready_q + write_q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14820900" y="5713095"/>
            <a:ext cx="2476500" cy="453390"/>
          </a:xfrm>
          <a:prstGeom prst="roundRect">
            <a:avLst>
              <a:gd name="adj" fmla="val 50000"/>
            </a:avLst>
          </a:prstGeom>
          <a:solidFill>
            <a:srgbClr val="FEE2E2"/>
          </a:solidFill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14935200" y="5852160"/>
            <a:ext cx="2229485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one step updates local + global</a:t>
            </a:r>
            <a:endParaRPr sz="1050" b="1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00100" y="514350"/>
            <a:ext cx="16687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02 / Materialization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0100" y="838200"/>
            <a:ext cx="166878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从</a:t>
            </a:r>
            <a:r>
              <a:rPr lang="en-US" sz="4050" b="1">
                <a:solidFill>
                  <a:srgbClr val="0F172A"/>
                </a:solidFill>
              </a:rPr>
              <a:t>logical </a:t>
            </a:r>
            <a:r>
              <a:rPr sz="4050" b="1">
                <a:solidFill>
                  <a:srgbClr val="0F172A"/>
                </a:solidFill>
              </a:rPr>
              <a:t> Tensor 到 </a:t>
            </a:r>
            <a:r>
              <a:rPr lang="en-US" sz="4050" b="1">
                <a:solidFill>
                  <a:srgbClr val="0F172A"/>
                </a:solidFill>
              </a:rPr>
              <a:t> </a:t>
            </a:r>
            <a:r>
              <a:rPr sz="4050" b="1">
                <a:solidFill>
                  <a:srgbClr val="0F172A"/>
                </a:solidFill>
              </a:rPr>
              <a:t>Physical</a:t>
            </a:r>
            <a:r>
              <a:rPr lang="en-US" sz="4050" b="1">
                <a:solidFill>
                  <a:srgbClr val="0F172A"/>
                </a:solidFill>
              </a:rPr>
              <a:t> address</a:t>
            </a:r>
            <a:endParaRPr lang="en-US" sz="40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156210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3448050"/>
            <a:ext cx="5448300" cy="2000250"/>
          </a:xfrm>
          <a:prstGeom prst="roundRect">
            <a:avLst>
              <a:gd name="adj" fmla="val 10476"/>
            </a:avLst>
          </a:prstGeom>
          <a:solidFill>
            <a:srgbClr val="F8FAFC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617595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Logical access pattern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979545"/>
            <a:ext cx="9144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990600" y="41414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41509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314450" y="41414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14450" y="41509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638300" y="41414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638300" y="41509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962150" y="41414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962150" y="41509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286000" y="41414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286000" y="41509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04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90600" y="44653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44748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314450" y="44653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14450" y="44748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638300" y="44653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638300" y="44748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962150" y="44653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962150" y="44748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2286000" y="44653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286000" y="44748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14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0600" y="47891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90600" y="47986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314450" y="47891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314450" y="47986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638300" y="47891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638300" y="47986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962150" y="47891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62150" y="47986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286000" y="478917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286000" y="479869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24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990600" y="51130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90600" y="51225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30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314450" y="51130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314450" y="51225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31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1638300" y="51130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CCFBF1"/>
          </a:solidFill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638300" y="51225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32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1962150" y="51130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962150" y="51225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33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2286000" y="511302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286000" y="5122545"/>
            <a:ext cx="247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0F172A"/>
                </a:solidFill>
              </a:defRPr>
            </a:pPr>
            <a:r>
              <a:rPr sz="825" b="1">
                <a:solidFill>
                  <a:srgbClr val="0F172A"/>
                </a:solidFill>
              </a:rPr>
              <a:t>34</a:t>
            </a:r>
            <a:endParaRPr sz="825" b="1">
              <a:solidFill>
                <a:srgbClr val="0F172A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2724150" y="4141470"/>
            <a:ext cx="1229678" cy="293370"/>
          </a:xfrm>
          <a:prstGeom prst="roundRect">
            <a:avLst>
              <a:gd name="adj" fmla="val 50000"/>
            </a:avLst>
          </a:prstGeom>
          <a:solidFill>
            <a:srgbClr val="DBEAFE"/>
          </a:solidFill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838450" y="4208145"/>
            <a:ext cx="1009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logical tensor tiles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2724150" y="4530090"/>
            <a:ext cx="1341501" cy="293370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2838450" y="4589145"/>
            <a:ext cx="1104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edge traversal order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2724150" y="4918710"/>
            <a:ext cx="3278029" cy="293370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838450" y="4989195"/>
            <a:ext cx="3048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same op, different remap -&gt; different landing geometry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10415905" y="3371850"/>
            <a:ext cx="5448300" cy="2400300"/>
          </a:xfrm>
          <a:prstGeom prst="roundRect">
            <a:avLst>
              <a:gd name="adj" fmla="val 8730"/>
            </a:avLst>
          </a:prstGeom>
          <a:solidFill>
            <a:srgbClr val="FEE2E2"/>
          </a:solidFill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10606405" y="3541395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Physical landing geometry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606405" y="3903345"/>
            <a:ext cx="914400" cy="381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87" name="圆角矩形 86"/>
          <p:cNvSpPr>
            <a:spLocks noGrp="1"/>
          </p:cNvSpPr>
          <p:nvPr/>
        </p:nvSpPr>
        <p:spPr>
          <a:xfrm>
            <a:off x="10606405" y="4065270"/>
            <a:ext cx="2476500" cy="685800"/>
          </a:xfrm>
          <a:prstGeom prst="roundRect">
            <a:avLst>
              <a:gd name="adj" fmla="val 22222"/>
            </a:avLst>
          </a:prstGeom>
          <a:solidFill>
            <a:srgbClr val="DBEAFE"/>
          </a:solidFill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0720705" y="4170045"/>
            <a:ext cx="2247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bank 0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10720705" y="4398645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r12  |  c1,2,3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13197205" y="4065270"/>
            <a:ext cx="2476500" cy="685800"/>
          </a:xfrm>
          <a:prstGeom prst="roundRect">
            <a:avLst>
              <a:gd name="adj" fmla="val 22222"/>
            </a:avLst>
          </a:prstGeom>
          <a:solidFill>
            <a:srgbClr val="CCFBF1"/>
          </a:solidFill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13311505" y="4170045"/>
            <a:ext cx="2247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bank 1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3311505" y="4398645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r07  |  c4,5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10606405" y="4865370"/>
            <a:ext cx="2476500" cy="685800"/>
          </a:xfrm>
          <a:prstGeom prst="roundRect">
            <a:avLst>
              <a:gd name="adj" fmla="val 22222"/>
            </a:avLst>
          </a:prstGeom>
          <a:solidFill>
            <a:srgbClr val="FEF3C7"/>
          </a:solidFill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10720705" y="4970145"/>
            <a:ext cx="2247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bank 2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0720705" y="5198745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r04  |  c0,1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13197205" y="4865370"/>
            <a:ext cx="2476500" cy="685800"/>
          </a:xfrm>
          <a:prstGeom prst="roundRect">
            <a:avLst>
              <a:gd name="adj" fmla="val 22222"/>
            </a:avLst>
          </a:prstGeom>
          <a:solidFill>
            <a:srgbClr val="FEE2E2"/>
          </a:solidFill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13311505" y="4970145"/>
            <a:ext cx="2247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bank 3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13311505" y="5198745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r19  |  c2</a:t>
            </a:r>
            <a:endParaRPr sz="975">
              <a:solidFill>
                <a:srgbClr val="475569"/>
              </a:solidFill>
            </a:endParaRPr>
          </a:p>
        </p:txBody>
      </p:sp>
      <p:cxnSp>
        <p:nvCxnSpPr>
          <p:cNvPr id="110" name="直接箭头连接符 109"/>
          <p:cNvCxnSpPr/>
          <p:nvPr/>
        </p:nvCxnSpPr>
        <p:spPr>
          <a:xfrm>
            <a:off x="6892290" y="4409440"/>
            <a:ext cx="2758440" cy="8890"/>
          </a:xfrm>
          <a:prstGeom prst="straightConnector1">
            <a:avLst/>
          </a:prstGeom>
          <a:ln w="31750" cap="rnd">
            <a:solidFill>
              <a:srgbClr val="C0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7183120" y="3903345"/>
            <a:ext cx="2177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address remapping</a:t>
            </a:r>
            <a:endParaRPr lang="en-US" altLang="zh-CN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00100" y="514350"/>
            <a:ext cx="16687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03 / Stream Diagnosis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0100" y="838200"/>
            <a:ext cx="166878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单 stream 几何诊断：热点、row locality 与 bank 打散</a:t>
            </a:r>
            <a:endParaRPr sz="40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156210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2169795"/>
            <a:ext cx="16687800" cy="3714750"/>
          </a:xfrm>
          <a:prstGeom prst="roundRect">
            <a:avLst>
              <a:gd name="adj" fmla="val 5641"/>
            </a:avLst>
          </a:prstGeom>
          <a:solidFill>
            <a:srgbClr val="F8FAFC"/>
          </a:solidFill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971550" y="2341245"/>
            <a:ext cx="2661571" cy="293370"/>
          </a:xfrm>
          <a:prstGeom prst="roundRect">
            <a:avLst>
              <a:gd name="adj" fmla="val 50000"/>
            </a:avLst>
          </a:prstGeom>
          <a:solidFill>
            <a:srgbClr val="FEE2E2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2400300"/>
            <a:ext cx="2438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hotspot bank = deeper fill + denser requests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766471" y="2341245"/>
            <a:ext cx="2158841" cy="453390"/>
          </a:xfrm>
          <a:prstGeom prst="roundRect">
            <a:avLst>
              <a:gd name="adj" fmla="val 50000"/>
            </a:avLst>
          </a:prstGeom>
          <a:solidFill>
            <a:srgbClr val="DBEAFE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886200" y="2400300"/>
            <a:ext cx="19240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good row locality = long row bands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58662" y="2341245"/>
            <a:ext cx="2492311" cy="453390"/>
          </a:xfrm>
          <a:prstGeom prst="roundRect">
            <a:avLst>
              <a:gd name="adj" fmla="val 50000"/>
            </a:avLst>
          </a:prstGeom>
          <a:solidFill>
            <a:srgbClr val="DCFCE7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172200" y="2400300"/>
            <a:ext cx="22669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bank spread = column heights flatten out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71550" y="2947035"/>
            <a:ext cx="5346700" cy="2766060"/>
          </a:xfrm>
          <a:prstGeom prst="roundRect">
            <a:avLst>
              <a:gd name="adj" fmla="val 6887"/>
            </a:avLst>
          </a:prstGeom>
          <a:solidFill>
            <a:srgbClr val="FFFFFF"/>
          </a:solidFill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3105150"/>
            <a:ext cx="5048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Hotspot banks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448050"/>
            <a:ext cx="914400" cy="381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23950" y="3602355"/>
            <a:ext cx="1189038" cy="1905000"/>
          </a:xfrm>
          <a:prstGeom prst="roundRect">
            <a:avLst>
              <a:gd name="adj" fmla="val 14419"/>
            </a:avLst>
          </a:prstGeom>
          <a:solidFill>
            <a:srgbClr val="FCA5A5"/>
          </a:solidFill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3733800"/>
            <a:ext cx="914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Bank 0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25730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43827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4478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61925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6192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80022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097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98120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9812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216217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1717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34315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3431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252412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5336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270510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7051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288607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8956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306705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0670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324802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32575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257300" y="4229100"/>
            <a:ext cx="914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most requests pile here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2408238" y="3602355"/>
            <a:ext cx="1189038" cy="1905000"/>
          </a:xfrm>
          <a:prstGeom prst="roundRect">
            <a:avLst>
              <a:gd name="adj" fmla="val 14419"/>
            </a:avLst>
          </a:prstGeom>
          <a:solidFill>
            <a:srgbClr val="FDE68A"/>
          </a:solidFill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33650" y="3733800"/>
            <a:ext cx="914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Bank 1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541588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5336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2722563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7241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2903538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8956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3084513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0861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3265488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32575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3446463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34480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3627438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36195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533650" y="4229100"/>
            <a:ext cx="9144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medium pressure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3692525" y="3602355"/>
            <a:ext cx="1189038" cy="1905000"/>
          </a:xfrm>
          <a:prstGeom prst="roundRect">
            <a:avLst>
              <a:gd name="adj" fmla="val 14419"/>
            </a:avLst>
          </a:prstGeom>
          <a:solidFill>
            <a:srgbClr val="DBEAFE"/>
          </a:solidFill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829050" y="3733800"/>
            <a:ext cx="914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Bank 2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382587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38290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400685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4187825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41910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4368800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436245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3829050" y="4229100"/>
            <a:ext cx="9144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light traffic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976813" y="3602355"/>
            <a:ext cx="1189038" cy="1905000"/>
          </a:xfrm>
          <a:prstGeom prst="roundRect">
            <a:avLst>
              <a:gd name="adj" fmla="val 14419"/>
            </a:avLst>
          </a:prstGeom>
          <a:solidFill>
            <a:srgbClr val="F8FAFC"/>
          </a:solidFill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5105400" y="3733800"/>
            <a:ext cx="914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Bank 3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5110163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51054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5291138" y="401383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5295900" y="4019550"/>
            <a:ext cx="133350" cy="1333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5105400" y="4229100"/>
            <a:ext cx="9144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almost idle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6470650" y="2947035"/>
            <a:ext cx="5346700" cy="2766060"/>
          </a:xfrm>
          <a:prstGeom prst="roundRect">
            <a:avLst>
              <a:gd name="adj" fmla="val 6887"/>
            </a:avLst>
          </a:prstGeom>
          <a:solidFill>
            <a:srgbClr val="FFFFFF"/>
          </a:solidFill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6629400" y="3105150"/>
            <a:ext cx="5048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Row locality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6629400" y="3448050"/>
            <a:ext cx="9144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1" name="圆角矩形 80"/>
          <p:cNvSpPr>
            <a:spLocks noGrp="1"/>
          </p:cNvSpPr>
          <p:nvPr/>
        </p:nvSpPr>
        <p:spPr>
          <a:xfrm>
            <a:off x="6623050" y="3602355"/>
            <a:ext cx="2463800" cy="2000250"/>
          </a:xfrm>
          <a:prstGeom prst="roundRect">
            <a:avLst>
              <a:gd name="adj" fmla="val 8571"/>
            </a:avLst>
          </a:prstGeom>
          <a:solidFill>
            <a:srgbClr val="FFFFFF"/>
          </a:solidFill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762750" y="3733800"/>
            <a:ext cx="2190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localized stream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6756400" y="4013835"/>
            <a:ext cx="1809750" cy="152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762750" y="4019550"/>
            <a:ext cx="18097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6756400" y="4261485"/>
            <a:ext cx="1600200" cy="152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6762750" y="4267200"/>
            <a:ext cx="160020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6756400" y="4509135"/>
            <a:ext cx="1390650" cy="152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6762750" y="4514850"/>
            <a:ext cx="13906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756400" y="4756785"/>
            <a:ext cx="1181100" cy="152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6762750" y="4762500"/>
            <a:ext cx="118110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762750" y="5010150"/>
            <a:ext cx="2190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long bars mean same-row runs stay alive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9201150" y="3602355"/>
            <a:ext cx="2463800" cy="2000250"/>
          </a:xfrm>
          <a:prstGeom prst="roundRect">
            <a:avLst>
              <a:gd name="adj" fmla="val 8571"/>
            </a:avLst>
          </a:prstGeom>
          <a:solidFill>
            <a:srgbClr val="FFFFFF"/>
          </a:solidFill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9334500" y="3733800"/>
            <a:ext cx="2190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fragmented stream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9334500" y="4013835"/>
            <a:ext cx="4000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9334500" y="4019550"/>
            <a:ext cx="4000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9791700" y="4013835"/>
            <a:ext cx="3238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9791700" y="4019550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10172700" y="4013835"/>
            <a:ext cx="22860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10172700" y="4019550"/>
            <a:ext cx="22860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10458450" y="4013835"/>
            <a:ext cx="19050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10458450" y="40195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9334500" y="4261485"/>
            <a:ext cx="2857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9334500" y="4267200"/>
            <a:ext cx="2857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9677400" y="4261485"/>
            <a:ext cx="2476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9677400" y="4267200"/>
            <a:ext cx="2476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9982200" y="4261485"/>
            <a:ext cx="1714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9982200" y="4267200"/>
            <a:ext cx="1714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10210800" y="4261485"/>
            <a:ext cx="1333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10210800" y="4267200"/>
            <a:ext cx="1333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9334500" y="4509135"/>
            <a:ext cx="4381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9334500" y="4514850"/>
            <a:ext cx="4381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12" name="圆角矩形 111"/>
          <p:cNvSpPr>
            <a:spLocks noGrp="1"/>
          </p:cNvSpPr>
          <p:nvPr/>
        </p:nvSpPr>
        <p:spPr>
          <a:xfrm>
            <a:off x="9829800" y="4509135"/>
            <a:ext cx="2095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9829800" y="4514850"/>
            <a:ext cx="2095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14" name="圆角矩形 113"/>
          <p:cNvSpPr>
            <a:spLocks noGrp="1"/>
          </p:cNvSpPr>
          <p:nvPr/>
        </p:nvSpPr>
        <p:spPr>
          <a:xfrm>
            <a:off x="10096500" y="450913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10096500" y="4514850"/>
            <a:ext cx="15240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16" name="圆角矩形 115"/>
          <p:cNvSpPr>
            <a:spLocks noGrp="1"/>
          </p:cNvSpPr>
          <p:nvPr/>
        </p:nvSpPr>
        <p:spPr>
          <a:xfrm>
            <a:off x="9334500" y="4756785"/>
            <a:ext cx="2476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17" name="矩形 116"/>
          <p:cNvSpPr>
            <a:spLocks noGrp="1"/>
          </p:cNvSpPr>
          <p:nvPr/>
        </p:nvSpPr>
        <p:spPr>
          <a:xfrm>
            <a:off x="9334500" y="4762500"/>
            <a:ext cx="2476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18" name="圆角矩形 117"/>
          <p:cNvSpPr>
            <a:spLocks noGrp="1"/>
          </p:cNvSpPr>
          <p:nvPr/>
        </p:nvSpPr>
        <p:spPr>
          <a:xfrm>
            <a:off x="9639300" y="4756785"/>
            <a:ext cx="2095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9639300" y="4762500"/>
            <a:ext cx="2095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9906000" y="4756785"/>
            <a:ext cx="17145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21" name="矩形 120"/>
          <p:cNvSpPr>
            <a:spLocks noGrp="1"/>
          </p:cNvSpPr>
          <p:nvPr/>
        </p:nvSpPr>
        <p:spPr>
          <a:xfrm>
            <a:off x="9906000" y="4762500"/>
            <a:ext cx="17145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22" name="圆角矩形 121"/>
          <p:cNvSpPr>
            <a:spLocks noGrp="1"/>
          </p:cNvSpPr>
          <p:nvPr/>
        </p:nvSpPr>
        <p:spPr>
          <a:xfrm>
            <a:off x="10134600" y="4756785"/>
            <a:ext cx="114300" cy="152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10134600" y="4762500"/>
            <a:ext cx="114300" cy="1524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24" name="矩形 123"/>
          <p:cNvSpPr>
            <a:spLocks noGrp="1"/>
          </p:cNvSpPr>
          <p:nvPr/>
        </p:nvSpPr>
        <p:spPr>
          <a:xfrm>
            <a:off x="9334500" y="5010150"/>
            <a:ext cx="2190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broken bars imply frequent row changes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25" name="圆角矩形 124"/>
          <p:cNvSpPr>
            <a:spLocks noGrp="1"/>
          </p:cNvSpPr>
          <p:nvPr/>
        </p:nvSpPr>
        <p:spPr>
          <a:xfrm>
            <a:off x="11969750" y="2947035"/>
            <a:ext cx="5346700" cy="2766060"/>
          </a:xfrm>
          <a:prstGeom prst="roundRect">
            <a:avLst>
              <a:gd name="adj" fmla="val 6887"/>
            </a:avLst>
          </a:prstGeom>
          <a:solidFill>
            <a:srgbClr val="FFFFFF"/>
          </a:solidFill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12115800" y="3105150"/>
            <a:ext cx="5048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Bank spread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27" name="矩形 126"/>
          <p:cNvSpPr>
            <a:spLocks noGrp="1"/>
          </p:cNvSpPr>
          <p:nvPr/>
        </p:nvSpPr>
        <p:spPr>
          <a:xfrm>
            <a:off x="12115800" y="3448050"/>
            <a:ext cx="914400" cy="381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12122150" y="3602355"/>
            <a:ext cx="2463800" cy="2095500"/>
          </a:xfrm>
          <a:prstGeom prst="roundRect">
            <a:avLst>
              <a:gd name="adj" fmla="val 8182"/>
            </a:avLst>
          </a:prstGeom>
          <a:solidFill>
            <a:srgbClr val="FFFFFF"/>
          </a:solidFill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12249150" y="3733800"/>
            <a:ext cx="2190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concentrated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12255500" y="4013835"/>
            <a:ext cx="477838" cy="1143000"/>
          </a:xfrm>
          <a:prstGeom prst="roundRect">
            <a:avLst>
              <a:gd name="adj" fmla="val 19934"/>
            </a:avLst>
          </a:prstGeom>
          <a:solidFill>
            <a:srgbClr val="FEE2E2"/>
          </a:solidFill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12249150" y="4019550"/>
            <a:ext cx="476250" cy="11430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12249150" y="521970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b0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12828588" y="4013835"/>
            <a:ext cx="477838" cy="609600"/>
          </a:xfrm>
          <a:prstGeom prst="roundRect">
            <a:avLst>
              <a:gd name="adj" fmla="val 19934"/>
            </a:avLst>
          </a:prstGeom>
          <a:solidFill>
            <a:srgbClr val="FEE2E2"/>
          </a:solidFill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12820650" y="4019550"/>
            <a:ext cx="476250" cy="6096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12820650" y="468630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b1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36" name="圆角矩形 135"/>
          <p:cNvSpPr>
            <a:spLocks noGrp="1"/>
          </p:cNvSpPr>
          <p:nvPr/>
        </p:nvSpPr>
        <p:spPr>
          <a:xfrm>
            <a:off x="13401675" y="4013835"/>
            <a:ext cx="477838" cy="228600"/>
          </a:xfrm>
          <a:prstGeom prst="roundRect">
            <a:avLst>
              <a:gd name="adj" fmla="val 41667"/>
            </a:avLst>
          </a:prstGeom>
          <a:solidFill>
            <a:srgbClr val="FEE2E2"/>
          </a:solidFill>
        </p:spPr>
      </p:sp>
      <p:sp>
        <p:nvSpPr>
          <p:cNvPr id="137" name="矩形 136"/>
          <p:cNvSpPr>
            <a:spLocks noGrp="1"/>
          </p:cNvSpPr>
          <p:nvPr/>
        </p:nvSpPr>
        <p:spPr>
          <a:xfrm>
            <a:off x="13411200" y="401955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13411200" y="430530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b2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39" name="圆角矩形 138"/>
          <p:cNvSpPr>
            <a:spLocks noGrp="1"/>
          </p:cNvSpPr>
          <p:nvPr/>
        </p:nvSpPr>
        <p:spPr>
          <a:xfrm>
            <a:off x="13974763" y="4013835"/>
            <a:ext cx="477838" cy="1143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</p:spPr>
      </p:sp>
      <p:sp>
        <p:nvSpPr>
          <p:cNvPr id="140" name="矩形 139"/>
          <p:cNvSpPr>
            <a:spLocks noGrp="1"/>
          </p:cNvSpPr>
          <p:nvPr/>
        </p:nvSpPr>
        <p:spPr>
          <a:xfrm>
            <a:off x="13982700" y="4019550"/>
            <a:ext cx="476250" cy="1143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13982700" y="419100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b3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12249150" y="5334000"/>
            <a:ext cx="2190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few tall columns -&gt; hotspot-prone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43" name="圆角矩形 142"/>
          <p:cNvSpPr>
            <a:spLocks noGrp="1"/>
          </p:cNvSpPr>
          <p:nvPr/>
        </p:nvSpPr>
        <p:spPr>
          <a:xfrm>
            <a:off x="14700250" y="3602355"/>
            <a:ext cx="2463800" cy="2095500"/>
          </a:xfrm>
          <a:prstGeom prst="roundRect">
            <a:avLst>
              <a:gd name="adj" fmla="val 8182"/>
            </a:avLst>
          </a:prstGeom>
          <a:solidFill>
            <a:srgbClr val="FFFFFF"/>
          </a:solidFill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14839950" y="3733800"/>
            <a:ext cx="2190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balanced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45" name="圆角矩形 144"/>
          <p:cNvSpPr>
            <a:spLocks noGrp="1"/>
          </p:cNvSpPr>
          <p:nvPr/>
        </p:nvSpPr>
        <p:spPr>
          <a:xfrm>
            <a:off x="14833600" y="4013835"/>
            <a:ext cx="477838" cy="781050"/>
          </a:xfrm>
          <a:prstGeom prst="roundRect">
            <a:avLst>
              <a:gd name="adj" fmla="val 19934"/>
            </a:avLst>
          </a:prstGeom>
          <a:solidFill>
            <a:srgbClr val="DCFCE7"/>
          </a:solidFill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4839950" y="4019550"/>
            <a:ext cx="476250" cy="7810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14839950" y="485775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b0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48" name="圆角矩形 147"/>
          <p:cNvSpPr>
            <a:spLocks noGrp="1"/>
          </p:cNvSpPr>
          <p:nvPr/>
        </p:nvSpPr>
        <p:spPr>
          <a:xfrm>
            <a:off x="15406688" y="4013835"/>
            <a:ext cx="477838" cy="723900"/>
          </a:xfrm>
          <a:prstGeom prst="roundRect">
            <a:avLst>
              <a:gd name="adj" fmla="val 19934"/>
            </a:avLst>
          </a:prstGeom>
          <a:solidFill>
            <a:srgbClr val="DCFCE7"/>
          </a:solidFill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5411450" y="4019550"/>
            <a:ext cx="476250" cy="7239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15411450" y="480060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b1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51" name="圆角矩形 150"/>
          <p:cNvSpPr>
            <a:spLocks noGrp="1"/>
          </p:cNvSpPr>
          <p:nvPr/>
        </p:nvSpPr>
        <p:spPr>
          <a:xfrm>
            <a:off x="15979775" y="4013835"/>
            <a:ext cx="477838" cy="762000"/>
          </a:xfrm>
          <a:prstGeom prst="roundRect">
            <a:avLst>
              <a:gd name="adj" fmla="val 19934"/>
            </a:avLst>
          </a:prstGeom>
          <a:solidFill>
            <a:srgbClr val="DCFCE7"/>
          </a:solidFill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5982950" y="4019550"/>
            <a:ext cx="476250" cy="7620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5982950" y="483870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b2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54" name="圆角矩形 153"/>
          <p:cNvSpPr>
            <a:spLocks noGrp="1"/>
          </p:cNvSpPr>
          <p:nvPr/>
        </p:nvSpPr>
        <p:spPr>
          <a:xfrm>
            <a:off x="16552863" y="4013835"/>
            <a:ext cx="477838" cy="704850"/>
          </a:xfrm>
          <a:prstGeom prst="roundRect">
            <a:avLst>
              <a:gd name="adj" fmla="val 19934"/>
            </a:avLst>
          </a:prstGeom>
          <a:solidFill>
            <a:srgbClr val="DCFCE7"/>
          </a:solidFill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16554450" y="4019550"/>
            <a:ext cx="476250" cy="70485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16554450" y="4781550"/>
            <a:ext cx="476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b3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14839950" y="5334000"/>
            <a:ext cx="2190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flat skyline -&gt; requests are spread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58" name="圆角矩形 157"/>
          <p:cNvSpPr>
            <a:spLocks noGrp="1"/>
          </p:cNvSpPr>
          <p:nvPr/>
        </p:nvSpPr>
        <p:spPr>
          <a:xfrm>
            <a:off x="800100" y="6113145"/>
            <a:ext cx="8258175" cy="16764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</p:spPr>
      </p:sp>
      <p:sp>
        <p:nvSpPr>
          <p:cNvPr id="159" name="矩形 158"/>
          <p:cNvSpPr>
            <a:spLocks noGrp="1"/>
          </p:cNvSpPr>
          <p:nvPr/>
        </p:nvSpPr>
        <p:spPr>
          <a:xfrm>
            <a:off x="1009650" y="63055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它对应哪些字段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1009650" y="6648450"/>
            <a:ext cx="914400" cy="381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1009650" y="6800850"/>
            <a:ext cx="78486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hotspot 对应 raw_bank_max_cycles / bank_cycles；row 连续性对应 bank_stats.misses 与 row_switch_penalty_cycles；柱高均匀度对应 active_banks、round_robin_score、same_bank_run_lengths。</a:t>
            </a:r>
            <a:endParaRPr sz="135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8935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766E"/>
                </a:solidFill>
                <a:latin typeface="Aptos"/>
              </a:rPr>
              <a:t>0</a:t>
            </a:r>
            <a:r>
              <a:rPr lang="en-US" sz="1400" b="1">
                <a:solidFill>
                  <a:srgbClr val="0F766E"/>
                </a:solidFill>
                <a:latin typeface="Aptos"/>
              </a:rPr>
              <a:t>4</a:t>
            </a:r>
            <a:r>
              <a:rPr sz="1400" b="1">
                <a:solidFill>
                  <a:srgbClr val="0F766E"/>
                </a:solidFill>
                <a:latin typeface="Aptos"/>
              </a:rPr>
              <a:t> / Bounds</a:t>
            </a:r>
            <a:endParaRPr sz="14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659255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Aptos"/>
              </a:rPr>
              <a:t>Latency </a:t>
            </a:r>
            <a:endParaRPr sz="30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4630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189990" y="1428750"/>
            <a:ext cx="14726920" cy="816927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11883390" y="2435225"/>
            <a:ext cx="2343785" cy="461010"/>
          </a:xfrm>
          <a:prstGeom prst="straightConnector1">
            <a:avLst/>
          </a:prstGeom>
          <a:ln w="31750" cap="rnd">
            <a:solidFill>
              <a:srgbClr val="C0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00100" y="514350"/>
            <a:ext cx="16687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</a:t>
            </a:r>
            <a:r>
              <a:rPr lang="en-US" sz="1350" b="1">
                <a:solidFill>
                  <a:srgbClr val="0F766E"/>
                </a:solidFill>
              </a:rPr>
              <a:t>5</a:t>
            </a:r>
            <a:r>
              <a:rPr sz="1350" b="1">
                <a:solidFill>
                  <a:srgbClr val="0F766E"/>
                </a:solidFill>
              </a:rPr>
              <a:t> / Controller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0100" y="838200"/>
            <a:ext cx="166878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4-bank </a:t>
            </a:r>
            <a:r>
              <a:rPr lang="en-US" sz="4050" b="1">
                <a:solidFill>
                  <a:srgbClr val="0F172A"/>
                </a:solidFill>
              </a:rPr>
              <a:t>Controller + </a:t>
            </a:r>
            <a:r>
              <a:rPr>
                <a:sym typeface="+mn-ea"/>
              </a:rPr>
              <a:t>单 bank 仲裁</a:t>
            </a:r>
            <a:r>
              <a:rPr lang="en-US">
                <a:sym typeface="+mn-ea"/>
              </a:rPr>
              <a:t> + writeback pressure</a:t>
            </a:r>
            <a:endParaRPr lang="en-US" sz="4050" b="1">
              <a:solidFill>
                <a:srgbClr val="0F172A"/>
              </a:solidFill>
              <a:sym typeface="+mn-ea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156210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1733550"/>
            <a:ext cx="12477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每个 bank 都有自己的 open_row 和 phase，但调度器是在一个共享时间轴上推进这些 bank</a:t>
            </a:r>
            <a:endParaRPr sz="1650">
              <a:solidFill>
                <a:srgbClr val="475569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4105" y="2000250"/>
            <a:ext cx="12429490" cy="8286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00100" y="514350"/>
            <a:ext cx="16687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</a:t>
            </a:r>
            <a:r>
              <a:rPr lang="en-US" sz="1350" b="1">
                <a:solidFill>
                  <a:srgbClr val="0F766E"/>
                </a:solidFill>
              </a:rPr>
              <a:t>6</a:t>
            </a:r>
            <a:r>
              <a:rPr sz="1350" b="1">
                <a:solidFill>
                  <a:srgbClr val="0F766E"/>
                </a:solidFill>
              </a:rPr>
              <a:t> / Readout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0100" y="838200"/>
            <a:ext cx="166878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输出指标阅读图：报告字段、物理意义、典型解释</a:t>
            </a:r>
            <a:endParaRPr sz="40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156210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1733550"/>
            <a:ext cx="9010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最后一页适合做成映射图，而不是继续堆步骤。这样听众会知道每个数字该往哪个物理机制上挂。</a:t>
            </a:r>
            <a:endParaRPr sz="1650">
              <a:solidFill>
                <a:srgbClr val="475569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2169795"/>
            <a:ext cx="16687800" cy="3238500"/>
          </a:xfrm>
          <a:prstGeom prst="roundRect">
            <a:avLst>
              <a:gd name="adj" fmla="val 6471"/>
            </a:avLst>
          </a:prstGeom>
          <a:solidFill>
            <a:srgbClr val="F8FAFC"/>
          </a:solidFill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971550" y="2341245"/>
            <a:ext cx="5346700" cy="2895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514600"/>
            <a:ext cx="501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报告字段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2857500"/>
            <a:ext cx="914400" cy="381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143000" y="301561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310515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memory_timeline_cycles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43000" y="351472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360045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rw_switch_count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43000" y="401383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57300" y="41148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row_switch_count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43000" y="451294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46101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arbiter1_wins / arbiter2_wins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43000" y="501205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51054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q_w_full_cycles / slice_blocked_cycles / forced_drain_count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470650" y="2341245"/>
            <a:ext cx="5346700" cy="2895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48450" y="2514600"/>
            <a:ext cx="501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物理意义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48450" y="2857500"/>
            <a:ext cx="9144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42100" y="301561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762750" y="310515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谁在主导总周期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642100" y="351472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62750" y="360045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phase 是否频繁抖动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642100" y="401383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762750" y="41148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row locality 是否差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642100" y="451294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762750" y="46101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continuation bias 有没有吃到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642100" y="501205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762750" y="51054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写压是否已经反压回读流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1969750" y="2341245"/>
            <a:ext cx="5346700" cy="2895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2134850" y="2514600"/>
            <a:ext cx="501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典型解释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2134850" y="2857500"/>
            <a:ext cx="914400" cy="381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12141200" y="301561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2249150" y="310515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timeline 高于 compute -&gt; memory 主导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12141200" y="351472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2249150" y="360045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rw_switch 多 -&gt; phase penalty 重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2141200" y="401383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2249150" y="41148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row_switch 多 -&gt; 请求落点打散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12141200" y="451294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2249150" y="46101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arbiter2 高 -&gt; continuation lane 常空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12141200" y="5012055"/>
            <a:ext cx="5003800" cy="384810"/>
          </a:xfrm>
          <a:prstGeom prst="roundRect">
            <a:avLst>
              <a:gd name="adj" fmla="val 34653"/>
            </a:avLst>
          </a:prstGeom>
          <a:solidFill>
            <a:srgbClr val="F8FAFC"/>
          </a:solidFill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2249150" y="5105400"/>
            <a:ext cx="478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blocked + drain 高 -&gt; 写回闭环成为主要瓶颈</a:t>
            </a:r>
            <a:endParaRPr sz="1275">
              <a:solidFill>
                <a:srgbClr val="475569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00100" y="5636895"/>
            <a:ext cx="8258175" cy="1619250"/>
          </a:xfrm>
          <a:prstGeom prst="roundRect">
            <a:avLst>
              <a:gd name="adj" fmla="val 14118"/>
            </a:avLst>
          </a:prstGeom>
          <a:solidFill>
            <a:srgbClr val="F8FAFC"/>
          </a:solidFill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09650" y="582930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建议阅读顺序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09650" y="6172200"/>
            <a:ext cx="9144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009650" y="6324600"/>
            <a:ext cx="78486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先判断谁是主导 bound，再看 bank_timeline 指标，最后再和 hardware_measured_cycles 对照，区分是总量误差还是机制误差。</a:t>
            </a:r>
            <a:endParaRPr sz="1350">
              <a:solidFill>
                <a:srgbClr val="475569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9229725" y="5636895"/>
            <a:ext cx="8258175" cy="1619250"/>
          </a:xfrm>
          <a:prstGeom prst="roundRect">
            <a:avLst>
              <a:gd name="adj" fmla="val 14118"/>
            </a:avLst>
          </a:prstGeom>
          <a:solidFill>
            <a:srgbClr val="F8FAFC"/>
          </a:solidFill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448800" y="582930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建议收尾案例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448800" y="6172200"/>
            <a:ext cx="914400" cy="381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448800" y="6324600"/>
            <a:ext cx="78486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优先用 rmsnorm_mul_withbaseaddr 或 summac_64_64_withbaseaddr，把“请求分布 -&gt; 仲裁 -&gt; backpressure -&gt; latency”完整走一遍。</a:t>
            </a:r>
            <a:endParaRPr sz="135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2578</Words>
  <Application>WPS 演示</Application>
  <PresentationFormat>Converted Presentation</PresentationFormat>
  <Paragraphs>324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Aptos</vt:lpstr>
      <vt:lpstr>Segoe UI</vt:lpstr>
      <vt:lpstr>Calibri</vt:lpstr>
      <vt:lpstr>微软雅黑</vt:lpstr>
      <vt:lpstr>Arial Unicode MS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余粥可温</cp:lastModifiedBy>
  <cp:revision>5</cp:revision>
  <dcterms:created xsi:type="dcterms:W3CDTF">2026-05-10T14:06:00Z</dcterms:created>
  <dcterms:modified xsi:type="dcterms:W3CDTF">2026-05-14T11:19:18Z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2041BA27C1A9477588973B8AEA697D01_12</vt:lpwstr>
  </property>
  <property fmtid="{D5CDD505-2E9C-101B-9397-08002B2CF9AE}" pid="3" name="KSOProductBuildVer">
    <vt:lpwstr>2052-12.1.0.25865</vt:lpwstr>
  </property>
</Properties>
</file>