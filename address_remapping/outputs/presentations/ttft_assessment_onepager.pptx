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7132320" cy="329184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DeepSeek 1.5B FP16 的 TTFT 评估方法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484632"/>
            <a:ext cx="6217920" cy="182880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/>
            <a:r>
              <a:rPr sz="1200" b="0">
                <a:solidFill>
                  <a:srgbClr val="BFDBFE"/>
                </a:solidFill>
                <a:latin typeface="Aptos"/>
              </a:rPr>
              <a:t>基于主瓶颈 GEMM 的一阶近似，用于当前硬件设计阶段的快速估算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005840"/>
            <a:ext cx="27432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463040" cy="274320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/>
            <a:r>
              <a:rPr sz="2000" b="1">
                <a:solidFill>
                  <a:srgbClr val="1E293B"/>
                </a:solidFill>
                <a:latin typeface="Aptos"/>
              </a:rPr>
              <a:t>1. 评估目标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2286000" cy="11887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600">
                <a:solidFill>
                  <a:srgbClr val="334155"/>
                </a:solidFill>
                <a:latin typeface="Aptos"/>
              </a:rPr>
              <a:t>目标指标：TTFT（prefill latency）</a:t>
            </a:r>
          </a:p>
          <a:p>
            <a:pPr algn="l"/>
            <a:r>
              <a:rPr sz="1600">
                <a:solidFill>
                  <a:srgbClr val="334155"/>
                </a:solidFill>
                <a:latin typeface="Aptos"/>
              </a:rPr>
              <a:t>评估对象：DeepSeek 1.5B FP16</a:t>
            </a:r>
          </a:p>
          <a:p>
            <a:pPr algn="l"/>
            <a:r>
              <a:rPr sz="1600">
                <a:solidFill>
                  <a:srgbClr val="334155"/>
                </a:solidFill>
                <a:latin typeface="Aptos"/>
              </a:rPr>
              <a:t>用途：设计阶段快速估算，不替代完整性能模型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005840"/>
            <a:ext cx="27432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143000"/>
            <a:ext cx="1645920" cy="274320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/>
            <a:r>
              <a:rPr sz="2000" b="1">
                <a:solidFill>
                  <a:srgbClr val="1E293B"/>
                </a:solidFill>
                <a:latin typeface="Aptos"/>
              </a:rPr>
              <a:t>2. 基本配置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508760"/>
            <a:ext cx="2331720" cy="11887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600">
                <a:solidFill>
                  <a:srgbClr val="334155"/>
                </a:solidFill>
                <a:latin typeface="Aptos"/>
              </a:rPr>
              <a:t>hidden = 1536, intermediate = 8960</a:t>
            </a:r>
          </a:p>
          <a:p>
            <a:pPr algn="l"/>
            <a:r>
              <a:rPr sz="1600">
                <a:solidFill>
                  <a:srgbClr val="334155"/>
                </a:solidFill>
                <a:latin typeface="Aptos"/>
              </a:rPr>
              <a:t>heads = 12, KV heads = 2, head_dim = 128</a:t>
            </a:r>
          </a:p>
          <a:p>
            <a:pPr algn="l"/>
            <a:r>
              <a:rPr sz="1600">
                <a:solidFill>
                  <a:srgbClr val="334155"/>
                </a:solidFill>
                <a:latin typeface="Aptos"/>
              </a:rPr>
              <a:t>28 slices, 4 slices / head, slice freq = 1 GHz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005840"/>
            <a:ext cx="5669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143000"/>
            <a:ext cx="2011680" cy="274320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/>
            <a:r>
              <a:rPr sz="2000" b="1">
                <a:solidFill>
                  <a:srgbClr val="1E293B"/>
                </a:solidFill>
                <a:latin typeface="Aptos"/>
              </a:rPr>
              <a:t>3. 执行侧近似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508760"/>
            <a:ext cx="5120640" cy="11887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600">
                <a:solidFill>
                  <a:srgbClr val="334155"/>
                </a:solidFill>
                <a:latin typeface="Aptos"/>
              </a:rPr>
              <a:t>12 个 attention heads 无法填满 7 个 cluster，因此按 14 heads 做 execution padding</a:t>
            </a:r>
          </a:p>
          <a:p>
            <a:pPr algn="l"/>
            <a:r>
              <a:rPr sz="1600">
                <a:solidFill>
                  <a:srgbClr val="334155"/>
                </a:solidFill>
                <a:latin typeface="Aptos"/>
              </a:rPr>
              <a:t>执行侧 attention hidden = 14 x 128 = 1792；FFN 仍保持 intermediate = 8960</a:t>
            </a:r>
          </a:p>
          <a:p>
            <a:pPr algn="l"/>
            <a:r>
              <a:rPr sz="1600">
                <a:solidFill>
                  <a:srgbClr val="334155"/>
                </a:solidFill>
                <a:latin typeface="Aptos"/>
              </a:rPr>
              <a:t>K/V 需要各 cluster 参与完整计算，但延迟口径按 cluster 并行处理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3246120"/>
            <a:ext cx="557784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383280"/>
            <a:ext cx="1737360" cy="274320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/>
            <a:r>
              <a:rPr sz="2000" b="1">
                <a:solidFill>
                  <a:srgbClr val="1E293B"/>
                </a:solidFill>
                <a:latin typeface="Aptos"/>
              </a:rPr>
              <a:t>4. 估算方法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767328"/>
            <a:ext cx="5120640" cy="13258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600">
                <a:solidFill>
                  <a:srgbClr val="334155"/>
                </a:solidFill>
                <a:latin typeface="Aptos"/>
              </a:rPr>
              <a:t>主瓶颈按 9 个 GEMM 处理：7 个 ring_gemm + qkt / sv 两个 local_gemm</a:t>
            </a:r>
          </a:p>
          <a:p>
            <a:pPr algn="l"/>
            <a:r>
              <a:rPr sz="1600">
                <a:solidFill>
                  <a:srgbClr val="334155"/>
                </a:solidFill>
                <a:latin typeface="Aptos"/>
              </a:rPr>
              <a:t>GEMM latency = 2MNK / (0.92 x 256 ops/cycle)</a:t>
            </a:r>
          </a:p>
          <a:p>
            <a:pPr algn="l"/>
            <a:r>
              <a:rPr sz="1600">
                <a:solidFill>
                  <a:srgbClr val="334155"/>
                </a:solidFill>
                <a:latin typeface="Aptos"/>
              </a:rPr>
              <a:t>非 GEMM 算子采用有效带宽近似，作为次要项合并估算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074920"/>
            <a:ext cx="5074920" cy="7498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294376"/>
            <a:ext cx="4572000" cy="228600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/>
            <a:r>
              <a:rPr sz="1400" b="1">
                <a:solidFill>
                  <a:srgbClr val="1E40AF"/>
                </a:solidFill>
                <a:latin typeface="Aptos"/>
              </a:rPr>
              <a:t>TTFT 仅用于设计阶段对比，不替代后续实测或完整 analytical model validation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246120"/>
            <a:ext cx="566928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3383280"/>
            <a:ext cx="2286000" cy="274320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/>
            <a:r>
              <a:rPr sz="2000" b="1">
                <a:solidFill>
                  <a:srgbClr val="1E293B"/>
                </a:solidFill>
                <a:latin typeface="Aptos"/>
              </a:rPr>
              <a:t>5. 当前结果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3840480"/>
            <a:ext cx="5120640" cy="114300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4078224"/>
            <a:ext cx="4572000" cy="548640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seq = 8  -&gt; TTFT ≈ 4.43 ms
seq = 512 -&gt; TTFT ≈ 291.2 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5257800"/>
            <a:ext cx="5029200" cy="5943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/>
            <a:r>
              <a:rPr sz="1500">
                <a:solidFill>
                  <a:srgbClr val="475569"/>
                </a:solidFill>
                <a:latin typeface="Aptos"/>
              </a:rPr>
              <a:t>TTFT 会随模型规模、输入长度、精度、并行策略和 runtime 实现显著变化</a:t>
            </a:r>
          </a:p>
          <a:p>
            <a:pPr algn="l"/>
            <a:r>
              <a:rPr sz="1500">
                <a:solidFill>
                  <a:srgbClr val="475569"/>
                </a:solidFill>
                <a:latin typeface="Aptos"/>
              </a:rPr>
              <a:t>因此汇报时建议同时注明模型名、precision、input tokens 和近似假设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